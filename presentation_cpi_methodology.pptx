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committee members. Traditional official CPI in Cambodia is published once a month with a 30-to-60 day publication lag. Today, we present an end-to-end, high-frequency price intelligence pipeline that crawls over 30 retail and utility sources daily, applies machine learning entity resolution, computes an axiomatic Jevons Elementary Aggregate Index, and delivers real-time inflation nowcasting with official statistical compliance.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 banks and economic ministries cannot wait two months to discover that food or fuel prices have spiked. By capturing daily online retail quotes, our system eliminates reporting lag while adhering to the same national weighting structure used by the National Institute of Statistics.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Semantic AI vector models are naturally 'number blind'—they think a 1-can and 24-can pack of soda are identical because the words are similar. Our Level 4 enforces a deterministic physical spec guard firewall that strictly separates different pack sizes and hardware specs before any cosine similarity is evaluated.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2011680"/>
          </a:xfrm>
          <a:prstGeom prst="rect">
            <a:avLst/>
          </a:prstGeom>
          <a:noFill/>
        </p:spPr>
        <p:txBody>
          <a:bodyPr wrap="square">
            <a:spAutoFit/>
          </a:bodyPr>
          <a:lstStyle/>
          <a:p>
            <a:pPr>
              <a:defRPr sz="3200" b="1">
                <a:solidFill>
                  <a:srgbClr val="FFFFFF"/>
                </a:solidFill>
              </a:defRPr>
            </a:pPr>
            <a:r>
              <a:t>Autonomous Daily Consumer Price Index &amp; Inflation Nowcasting for Cambodia</a:t>
            </a:r>
          </a:p>
          <a:p>
            <a:pPr>
              <a:spcBef>
                <a:spcPts val="1000"/>
              </a:spcBef>
              <a:defRPr sz="1600">
                <a:solidFill>
                  <a:srgbClr val="BEE3F8"/>
                </a:solidFill>
              </a:defRPr>
            </a:pPr>
            <a:r>
              <a:t>High-Frequency Alternative Economic Sensing via Multilingual Web Scraping &amp; Econometric Machine Learning</a:t>
            </a:r>
          </a:p>
        </p:txBody>
      </p:sp>
      <p:sp>
        <p:nvSpPr>
          <p:cNvPr id="4" name="Rounded Rectangle 3"/>
          <p:cNvSpPr/>
          <p:nvPr/>
        </p:nvSpPr>
        <p:spPr>
          <a:xfrm>
            <a:off x="914400" y="3840480"/>
            <a:ext cx="3291840" cy="1828800"/>
          </a:xfrm>
          <a:prstGeom prst="roundRect">
            <a:avLst/>
          </a:prstGeom>
          <a:solidFill>
            <a:srgbClr val="2C5282"/>
          </a:solidFill>
          <a:ln w="19050">
            <a:solidFill>
              <a:srgbClr val="63B3E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600" b="1">
                <a:solidFill>
                  <a:srgbClr val="FFFFFF"/>
                </a:solidFill>
              </a:defRPr>
            </a:pPr>
            <a:r>
              <a:t>⚡ High Frequency</a:t>
            </a:r>
          </a:p>
          <a:p>
            <a:pPr>
              <a:spcBef>
                <a:spcPts val="600"/>
              </a:spcBef>
              <a:defRPr sz="1100">
                <a:solidFill>
                  <a:srgbClr val="E2E8F0"/>
                </a:solidFill>
              </a:defRPr>
            </a:pPr>
            <a:r>
              <a:t>Daily automated price scrapes across 30+ merchants and open utility gazettes (08:00 ICT)</a:t>
            </a:r>
          </a:p>
        </p:txBody>
      </p:sp>
      <p:sp>
        <p:nvSpPr>
          <p:cNvPr id="5" name="Rounded Rectangle 4"/>
          <p:cNvSpPr/>
          <p:nvPr/>
        </p:nvSpPr>
        <p:spPr>
          <a:xfrm>
            <a:off x="4480560" y="3840480"/>
            <a:ext cx="3291840" cy="1828800"/>
          </a:xfrm>
          <a:prstGeom prst="roundRect">
            <a:avLst/>
          </a:prstGeom>
          <a:solidFill>
            <a:srgbClr val="2C5282"/>
          </a:solidFill>
          <a:ln w="19050">
            <a:solidFill>
              <a:srgbClr val="63B3E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600" b="1">
                <a:solidFill>
                  <a:srgbClr val="FFFFFF"/>
                </a:solidFill>
              </a:defRPr>
            </a:pPr>
            <a:r>
              <a:t>🎯 High Accuracy</a:t>
            </a:r>
          </a:p>
          <a:p>
            <a:pPr>
              <a:spcBef>
                <a:spcPts val="600"/>
              </a:spcBef>
              <a:defRPr sz="1100">
                <a:solidFill>
                  <a:srgbClr val="E2E8F0"/>
                </a:solidFill>
              </a:defRPr>
            </a:pPr>
            <a:r>
              <a:t>+0.52 Store-Balanced bias correction; 98.83% national consumption basket weight</a:t>
            </a:r>
          </a:p>
        </p:txBody>
      </p:sp>
      <p:sp>
        <p:nvSpPr>
          <p:cNvPr id="6" name="Rounded Rectangle 5"/>
          <p:cNvSpPr/>
          <p:nvPr/>
        </p:nvSpPr>
        <p:spPr>
          <a:xfrm>
            <a:off x="8046720" y="3840480"/>
            <a:ext cx="3291840" cy="1828800"/>
          </a:xfrm>
          <a:prstGeom prst="roundRect">
            <a:avLst/>
          </a:prstGeom>
          <a:solidFill>
            <a:srgbClr val="2C5282"/>
          </a:solidFill>
          <a:ln w="19050">
            <a:solidFill>
              <a:srgbClr val="63B3E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600" b="1">
                <a:solidFill>
                  <a:srgbClr val="FFFFFF"/>
                </a:solidFill>
              </a:defRPr>
            </a:pPr>
            <a:r>
              <a:t>🏛️ Statistical Compliance</a:t>
            </a:r>
          </a:p>
          <a:p>
            <a:pPr>
              <a:spcBef>
                <a:spcPts val="600"/>
              </a:spcBef>
              <a:defRPr sz="1100">
                <a:solidFill>
                  <a:srgbClr val="E2E8F0"/>
                </a:solidFill>
              </a:defRPr>
            </a:pPr>
            <a:r>
              <a:t>Strict adherence to UN COICOP 2018 and official NIS Cambodia CSES Laspeyres weights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The Macroeconomic Information Asymmetry</a:t>
            </a:r>
          </a:p>
          <a:p>
            <a:pPr>
              <a:spcBef>
                <a:spcPts val="400"/>
              </a:spcBef>
              <a:defRPr sz="1300">
                <a:solidFill>
                  <a:srgbClr val="3182CE"/>
                </a:solidFill>
              </a:defRPr>
            </a:pPr>
            <a:r>
              <a:t>Why traditional retrospective surveys need digital high-frequency complements</a:t>
            </a:r>
          </a:p>
        </p:txBody>
      </p:sp>
      <p:graphicFrame>
        <p:nvGraphicFramePr>
          <p:cNvPr id="3" name="Table 2"/>
          <p:cNvGraphicFramePr>
            <a:graphicFrameLocks noGrp="1"/>
          </p:cNvGraphicFramePr>
          <p:nvPr/>
        </p:nvGraphicFramePr>
        <p:xfrm>
          <a:off x="731520" y="1645920"/>
          <a:ext cx="10727740" cy="4389120"/>
        </p:xfrm>
        <a:graphic>
          <a:graphicData uri="http://schemas.openxmlformats.org/drawingml/2006/table">
            <a:tbl>
              <a:tblPr firstRow="1" bandRow="1">
                <a:tableStyleId>{5C22544A-7EE6-4342-B048-85BDC9FD1C3A}</a:tableStyleId>
              </a:tblPr>
              <a:tblGrid>
                <a:gridCol w="2743200"/>
                <a:gridCol w="3992270"/>
                <a:gridCol w="3992270"/>
              </a:tblGrid>
              <a:tr h="731520">
                <a:tc>
                  <a:txBody>
                    <a:bodyPr/>
                    <a:lstStyle/>
                    <a:p>
                      <a:pPr>
                        <a:defRPr b="1" sz="1200">
                          <a:solidFill>
                            <a:srgbClr val="FFFFFF"/>
                          </a:solidFill>
                        </a:defRPr>
                      </a:pPr>
                      <a:r>
                        <a:t>Dimension</a:t>
                      </a:r>
                    </a:p>
                  </a:txBody>
                  <a:tcPr>
                    <a:solidFill>
                      <a:srgbClr val="1A365D"/>
                    </a:solidFill>
                  </a:tcPr>
                </a:tc>
                <a:tc>
                  <a:txBody>
                    <a:bodyPr/>
                    <a:lstStyle/>
                    <a:p>
                      <a:pPr>
                        <a:defRPr b="1" sz="1200">
                          <a:solidFill>
                            <a:srgbClr val="FFFFFF"/>
                          </a:solidFill>
                        </a:defRPr>
                      </a:pPr>
                      <a:r>
                        <a:t>Traditional Official CPI (NIS Cambodia)</a:t>
                      </a:r>
                    </a:p>
                  </a:txBody>
                  <a:tcPr>
                    <a:solidFill>
                      <a:srgbClr val="1A365D"/>
                    </a:solidFill>
                  </a:tcPr>
                </a:tc>
                <a:tc>
                  <a:txBody>
                    <a:bodyPr/>
                    <a:lstStyle/>
                    <a:p>
                      <a:pPr>
                        <a:defRPr b="1" sz="1200">
                          <a:solidFill>
                            <a:srgbClr val="FFFFFF"/>
                          </a:solidFill>
                        </a:defRPr>
                      </a:pPr>
                      <a:r>
                        <a:t>Digital High-Frequency Pipeline (Our System)</a:t>
                      </a:r>
                    </a:p>
                  </a:txBody>
                  <a:tcPr>
                    <a:solidFill>
                      <a:srgbClr val="1A365D"/>
                    </a:solidFill>
                  </a:tcPr>
                </a:tc>
              </a:tr>
              <a:tr h="731520">
                <a:tc>
                  <a:txBody>
                    <a:bodyPr/>
                    <a:lstStyle/>
                    <a:p>
                      <a:pPr>
                        <a:defRPr sz="1100">
                          <a:solidFill>
                            <a:srgbClr val="2D3748"/>
                          </a:solidFill>
                        </a:defRPr>
                      </a:pPr>
                      <a:r>
                        <a:t>Observation Frequency</a:t>
                      </a:r>
                    </a:p>
                  </a:txBody>
                  <a:tcPr>
                    <a:solidFill>
                      <a:srgbClr val="FFFFFF"/>
                    </a:solidFill>
                  </a:tcPr>
                </a:tc>
                <a:tc>
                  <a:txBody>
                    <a:bodyPr/>
                    <a:lstStyle/>
                    <a:p>
                      <a:pPr>
                        <a:defRPr sz="1100">
                          <a:solidFill>
                            <a:srgbClr val="2D3748"/>
                          </a:solidFill>
                        </a:defRPr>
                      </a:pPr>
                      <a:r>
                        <a:t>Monthly clipboard market visits</a:t>
                      </a:r>
                    </a:p>
                  </a:txBody>
                  <a:tcPr>
                    <a:solidFill>
                      <a:srgbClr val="FFFFFF"/>
                    </a:solidFill>
                  </a:tcPr>
                </a:tc>
                <a:tc>
                  <a:txBody>
                    <a:bodyPr/>
                    <a:lstStyle/>
                    <a:p>
                      <a:pPr>
                        <a:defRPr sz="1100" b="1">
                          <a:solidFill>
                            <a:srgbClr val="1A365D"/>
                          </a:solidFill>
                        </a:defRPr>
                      </a:pPr>
                      <a:r>
                        <a:t>Daily automated crawling (08:00 ICT)</a:t>
                      </a:r>
                    </a:p>
                  </a:txBody>
                  <a:tcPr>
                    <a:solidFill>
                      <a:srgbClr val="FFFFFF"/>
                    </a:solidFill>
                  </a:tcPr>
                </a:tc>
              </a:tr>
              <a:tr h="731520">
                <a:tc>
                  <a:txBody>
                    <a:bodyPr/>
                    <a:lstStyle/>
                    <a:p>
                      <a:pPr>
                        <a:defRPr sz="1100">
                          <a:solidFill>
                            <a:srgbClr val="2D3748"/>
                          </a:solidFill>
                        </a:defRPr>
                      </a:pPr>
                      <a:r>
                        <a:t>Reporting Latency</a:t>
                      </a:r>
                    </a:p>
                  </a:txBody>
                  <a:tcPr>
                    <a:solidFill>
                      <a:srgbClr val="F7FAFC"/>
                    </a:solidFill>
                  </a:tcPr>
                </a:tc>
                <a:tc>
                  <a:txBody>
                    <a:bodyPr/>
                    <a:lstStyle/>
                    <a:p>
                      <a:pPr>
                        <a:defRPr sz="1100">
                          <a:solidFill>
                            <a:srgbClr val="2D3748"/>
                          </a:solidFill>
                        </a:defRPr>
                      </a:pPr>
                      <a:r>
                        <a:t>30 to 60 days lag</a:t>
                      </a:r>
                    </a:p>
                  </a:txBody>
                  <a:tcPr>
                    <a:solidFill>
                      <a:srgbClr val="F7FAFC"/>
                    </a:solidFill>
                  </a:tcPr>
                </a:tc>
                <a:tc>
                  <a:txBody>
                    <a:bodyPr/>
                    <a:lstStyle/>
                    <a:p>
                      <a:pPr>
                        <a:defRPr sz="1100" b="1">
                          <a:solidFill>
                            <a:srgbClr val="1A365D"/>
                          </a:solidFill>
                        </a:defRPr>
                      </a:pPr>
                      <a:r>
                        <a:t>Real-time (0-day lag) with dynamic nowcasts</a:t>
                      </a:r>
                    </a:p>
                  </a:txBody>
                  <a:tcPr>
                    <a:solidFill>
                      <a:srgbClr val="F7FAFC"/>
                    </a:solidFill>
                  </a:tcPr>
                </a:tc>
              </a:tr>
              <a:tr h="731520">
                <a:tc>
                  <a:txBody>
                    <a:bodyPr/>
                    <a:lstStyle/>
                    <a:p>
                      <a:pPr>
                        <a:defRPr sz="1100">
                          <a:solidFill>
                            <a:srgbClr val="2D3748"/>
                          </a:solidFill>
                        </a:defRPr>
                      </a:pPr>
                      <a:r>
                        <a:t>Sample Size</a:t>
                      </a:r>
                    </a:p>
                  </a:txBody>
                  <a:tcPr>
                    <a:solidFill>
                      <a:srgbClr val="FFFFFF"/>
                    </a:solidFill>
                  </a:tcPr>
                </a:tc>
                <a:tc>
                  <a:txBody>
                    <a:bodyPr/>
                    <a:lstStyle/>
                    <a:p>
                      <a:pPr>
                        <a:defRPr sz="1100">
                          <a:solidFill>
                            <a:srgbClr val="2D3748"/>
                          </a:solidFill>
                        </a:defRPr>
                      </a:pPr>
                      <a:r>
                        <a:t>~400–600 fixed commodities</a:t>
                      </a:r>
                    </a:p>
                  </a:txBody>
                  <a:tcPr>
                    <a:solidFill>
                      <a:srgbClr val="FFFFFF"/>
                    </a:solidFill>
                  </a:tcPr>
                </a:tc>
                <a:tc>
                  <a:txBody>
                    <a:bodyPr/>
                    <a:lstStyle/>
                    <a:p>
                      <a:pPr>
                        <a:defRPr sz="1100" b="1">
                          <a:solidFill>
                            <a:srgbClr val="1A365D"/>
                          </a:solidFill>
                        </a:defRPr>
                      </a:pPr>
                      <a:r>
                        <a:t>50,300+ tracked canonical SKUs (16,600+ daily quotes)</a:t>
                      </a:r>
                    </a:p>
                  </a:txBody>
                  <a:tcPr>
                    <a:solidFill>
                      <a:srgbClr val="FFFFFF"/>
                    </a:solidFill>
                  </a:tcPr>
                </a:tc>
              </a:tr>
              <a:tr h="731520">
                <a:tc>
                  <a:txBody>
                    <a:bodyPr/>
                    <a:lstStyle/>
                    <a:p>
                      <a:pPr>
                        <a:defRPr sz="1100">
                          <a:solidFill>
                            <a:srgbClr val="2D3748"/>
                          </a:solidFill>
                        </a:defRPr>
                      </a:pPr>
                      <a:r>
                        <a:t>Data Integrity</a:t>
                      </a:r>
                    </a:p>
                  </a:txBody>
                  <a:tcPr>
                    <a:solidFill>
                      <a:srgbClr val="F7FAFC"/>
                    </a:solidFill>
                  </a:tcPr>
                </a:tc>
                <a:tc>
                  <a:txBody>
                    <a:bodyPr/>
                    <a:lstStyle/>
                    <a:p>
                      <a:pPr>
                        <a:defRPr sz="1100">
                          <a:solidFill>
                            <a:srgbClr val="2D3748"/>
                          </a:solidFill>
                        </a:defRPr>
                      </a:pPr>
                      <a:r>
                        <a:t>Manual paper &amp; spreadsheet entry</a:t>
                      </a:r>
                    </a:p>
                  </a:txBody>
                  <a:tcPr>
                    <a:solidFill>
                      <a:srgbClr val="F7FAFC"/>
                    </a:solidFill>
                  </a:tcPr>
                </a:tc>
                <a:tc>
                  <a:txBody>
                    <a:bodyPr/>
                    <a:lstStyle/>
                    <a:p>
                      <a:pPr>
                        <a:defRPr sz="1100" b="1">
                          <a:solidFill>
                            <a:srgbClr val="1A365D"/>
                          </a:solidFill>
                        </a:defRPr>
                      </a:pPr>
                      <a:r>
                        <a:t>Immutable Bronze Lakehouse + Automated Audit Trail</a:t>
                      </a:r>
                    </a:p>
                  </a:txBody>
                  <a:tcPr>
                    <a:solidFill>
                      <a:srgbClr val="F7FAFC"/>
                    </a:solidFill>
                  </a:tcPr>
                </a:tc>
              </a:tr>
              <a:tr h="731520">
                <a:tc>
                  <a:txBody>
                    <a:bodyPr/>
                    <a:lstStyle/>
                    <a:p>
                      <a:pPr>
                        <a:defRPr sz="1100">
                          <a:solidFill>
                            <a:srgbClr val="2D3748"/>
                          </a:solidFill>
                        </a:defRPr>
                      </a:pPr>
                      <a:r>
                        <a:t>Granularity</a:t>
                      </a:r>
                    </a:p>
                  </a:txBody>
                  <a:tcPr>
                    <a:solidFill>
                      <a:srgbClr val="FFFFFF"/>
                    </a:solidFill>
                  </a:tcPr>
                </a:tc>
                <a:tc>
                  <a:txBody>
                    <a:bodyPr/>
                    <a:lstStyle/>
                    <a:p>
                      <a:pPr>
                        <a:defRPr sz="1100">
                          <a:solidFill>
                            <a:srgbClr val="2D3748"/>
                          </a:solidFill>
                        </a:defRPr>
                      </a:pPr>
                      <a:r>
                        <a:t>National &amp; provincial monthly averages</a:t>
                      </a:r>
                    </a:p>
                  </a:txBody>
                  <a:tcPr>
                    <a:solidFill>
                      <a:srgbClr val="FFFFFF"/>
                    </a:solidFill>
                  </a:tcPr>
                </a:tc>
                <a:tc>
                  <a:txBody>
                    <a:bodyPr/>
                    <a:lstStyle/>
                    <a:p>
                      <a:pPr>
                        <a:defRPr sz="1100" b="1">
                          <a:solidFill>
                            <a:srgbClr val="1A365D"/>
                          </a:solidFill>
                        </a:defRPr>
                      </a:pPr>
                      <a:r>
                        <a:t>Daily store-level, 5-digit subclass, and division series</a:t>
                      </a:r>
                    </a:p>
                  </a:txBody>
                  <a:tcP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System Architecture: The Five Methodological Pillars</a:t>
            </a:r>
          </a:p>
          <a:p>
            <a:pPr>
              <a:spcBef>
                <a:spcPts val="400"/>
              </a:spcBef>
              <a:defRPr sz="1300">
                <a:solidFill>
                  <a:srgbClr val="3182CE"/>
                </a:solidFill>
              </a:defRPr>
            </a:pPr>
            <a:r>
              <a:t>From raw uncurated web payloads to publication-grade inflation metrics</a:t>
            </a:r>
          </a:p>
        </p:txBody>
      </p:sp>
      <p:sp>
        <p:nvSpPr>
          <p:cNvPr id="3" name="Rounded Rectangle 2"/>
          <p:cNvSpPr/>
          <p:nvPr/>
        </p:nvSpPr>
        <p:spPr>
          <a:xfrm>
            <a:off x="731520" y="1645920"/>
            <a:ext cx="10728655" cy="868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300">
                <a:solidFill>
                  <a:srgbClr val="1A365D"/>
                </a:solidFill>
              </a:defRPr>
            </a:pPr>
            <a:r>
              <a:t>Pillar 1: Normalization</a:t>
            </a:r>
          </a:p>
          <a:p>
            <a:pPr>
              <a:spcBef>
                <a:spcPts val="200"/>
              </a:spcBef>
              <a:defRPr sz="1050">
                <a:solidFill>
                  <a:srgbClr val="2D3748"/>
                </a:solidFill>
              </a:defRPr>
            </a:pPr>
            <a:r>
              <a:t>Khmer Unicode cleaning, USD/KHR daily conversion, metric volume standardization to prevent shrinkflation bias.</a:t>
            </a:r>
          </a:p>
        </p:txBody>
      </p:sp>
      <p:sp>
        <p:nvSpPr>
          <p:cNvPr id="4" name="Rounded Rectangle 3"/>
          <p:cNvSpPr/>
          <p:nvPr/>
        </p:nvSpPr>
        <p:spPr>
          <a:xfrm>
            <a:off x="731520" y="2606040"/>
            <a:ext cx="10728655" cy="868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300">
                <a:solidFill>
                  <a:srgbClr val="1A365D"/>
                </a:solidFill>
              </a:defRPr>
            </a:pPr>
            <a:r>
              <a:t>Pillar 2: Entity Ladder</a:t>
            </a:r>
          </a:p>
          <a:p>
            <a:pPr>
              <a:spcBef>
                <a:spcPts val="200"/>
              </a:spcBef>
              <a:defRPr sz="1050">
                <a:solidFill>
                  <a:srgbClr val="2D3748"/>
                </a:solidFill>
              </a:defRPr>
            </a:pPr>
            <a:r>
              <a:t>5-level matching ladder (GTIN-13, SKU, Normalized Lexical, Vector embeddings with deterministic spec guards).</a:t>
            </a:r>
          </a:p>
        </p:txBody>
      </p:sp>
      <p:sp>
        <p:nvSpPr>
          <p:cNvPr id="5" name="Rounded Rectangle 4"/>
          <p:cNvSpPr/>
          <p:nvPr/>
        </p:nvSpPr>
        <p:spPr>
          <a:xfrm>
            <a:off x="731520" y="3566160"/>
            <a:ext cx="10728655" cy="868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300">
                <a:solidFill>
                  <a:srgbClr val="1A365D"/>
                </a:solidFill>
              </a:defRPr>
            </a:pPr>
            <a:r>
              <a:t>Pillar 3: Classification</a:t>
            </a:r>
          </a:p>
          <a:p>
            <a:pPr>
              <a:spcBef>
                <a:spcPts val="200"/>
              </a:spcBef>
              <a:defRPr sz="1050">
                <a:solidFill>
                  <a:srgbClr val="2D3748"/>
                </a:solidFill>
              </a:defRPr>
            </a:pPr>
            <a:r>
              <a:t>Store Purity Locks + Gemini 3.1 Flash Lite micro-batch classification into UN COICOP 2018 subclasses.</a:t>
            </a:r>
          </a:p>
        </p:txBody>
      </p:sp>
      <p:sp>
        <p:nvSpPr>
          <p:cNvPr id="6" name="Rounded Rectangle 5"/>
          <p:cNvSpPr/>
          <p:nvPr/>
        </p:nvSpPr>
        <p:spPr>
          <a:xfrm>
            <a:off x="731520" y="4526280"/>
            <a:ext cx="10728655" cy="868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300">
                <a:solidFill>
                  <a:srgbClr val="1A365D"/>
                </a:solidFill>
              </a:defRPr>
            </a:pPr>
            <a:r>
              <a:t>Pillar 4: Index Engine</a:t>
            </a:r>
          </a:p>
          <a:p>
            <a:pPr>
              <a:spcBef>
                <a:spcPts val="200"/>
              </a:spcBef>
              <a:defRPr sz="1050">
                <a:solidFill>
                  <a:srgbClr val="2D3748"/>
                </a:solidFill>
              </a:defRPr>
            </a:pPr>
            <a:r>
              <a:t>Two-Stage Store-Balanced Jevons elementary index aggregation followed by Laspeyres CSES macroeconomic weighting.</a:t>
            </a:r>
          </a:p>
        </p:txBody>
      </p:sp>
      <p:sp>
        <p:nvSpPr>
          <p:cNvPr id="7" name="Rounded Rectangle 6"/>
          <p:cNvSpPr/>
          <p:nvPr/>
        </p:nvSpPr>
        <p:spPr>
          <a:xfrm>
            <a:off x="731520" y="5486400"/>
            <a:ext cx="10728655" cy="868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300">
                <a:solidFill>
                  <a:srgbClr val="1A365D"/>
                </a:solidFill>
              </a:defRPr>
            </a:pPr>
            <a:r>
              <a:t>Pillar 5: Nowcasting &amp; Telemetry</a:t>
            </a:r>
          </a:p>
          <a:p>
            <a:pPr>
              <a:spcBef>
                <a:spcPts val="200"/>
              </a:spcBef>
              <a:defRPr sz="1050">
                <a:solidFill>
                  <a:srgbClr val="2D3748"/>
                </a:solidFill>
              </a:defRPr>
            </a:pPr>
            <a:r>
              <a:t>Two-Stage Regularized RidgeCV nowcasting with empirical Bayesian shrinkage and daily data quality observability.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Pillar 1: Data Normalization &amp; Defeating Shrinkflation</a:t>
            </a:r>
          </a:p>
          <a:p>
            <a:pPr>
              <a:spcBef>
                <a:spcPts val="400"/>
              </a:spcBef>
              <a:defRPr sz="1300">
                <a:solidFill>
                  <a:srgbClr val="3182CE"/>
                </a:solidFill>
              </a:defRPr>
            </a:pPr>
            <a:r>
              <a:t>Enforcing pure-price dimensional comparison across packaging shifts</a:t>
            </a:r>
          </a:p>
        </p:txBody>
      </p:sp>
      <p:sp>
        <p:nvSpPr>
          <p:cNvPr id="3" name="Rounded Rectangle 2"/>
          <p:cNvSpPr/>
          <p:nvPr/>
        </p:nvSpPr>
        <p:spPr>
          <a:xfrm>
            <a:off x="731520" y="1645920"/>
            <a:ext cx="5120640" cy="4389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400">
                <a:solidFill>
                  <a:srgbClr val="1A365D"/>
                </a:solidFill>
              </a:defRPr>
            </a:pPr>
            <a:r>
              <a:t>Core Normalization Disciplines</a:t>
            </a:r>
          </a:p>
          <a:p>
            <a:pPr>
              <a:spcBef>
                <a:spcPts val="1200"/>
              </a:spcBef>
              <a:defRPr sz="1100">
                <a:solidFill>
                  <a:srgbClr val="2D3748"/>
                </a:solidFill>
              </a:defRPr>
            </a:pPr>
            <a:r>
              <a:t>• Khmer Unicode Sanitization: Replaces Khmer numerals (០-៩) with standard digits (0-9) and strips promotional flags ('[BUY 1 GET 1]', 'PROMO').</a:t>
            </a:r>
          </a:p>
          <a:p>
            <a:pPr>
              <a:spcBef>
                <a:spcPts val="1200"/>
              </a:spcBef>
              <a:defRPr sz="1100">
                <a:solidFill>
                  <a:srgbClr val="2D3748"/>
                </a:solidFill>
              </a:defRPr>
            </a:pPr>
            <a:r>
              <a:t>• Dual-Currency Normalization: Real-time conversion of USD-denominated listings to Cambodian Riel (KHR) via MEF/NBC official daily FX rates.</a:t>
            </a:r>
          </a:p>
          <a:p>
            <a:pPr>
              <a:spcBef>
                <a:spcPts val="1200"/>
              </a:spcBef>
              <a:defRPr sz="1100">
                <a:solidFill>
                  <a:srgbClr val="2D3748"/>
                </a:solidFill>
              </a:defRPr>
            </a:pPr>
            <a:r>
              <a:t>• Consumable Metric Isolation: Strict dimensional parsing restricted to food, beverage, and personal care (Divisions 01, 02, 05, 06, 12). Non-consumable specifications (e.g. 5G/256GB in electronics) are insulated from weight parsing.</a:t>
            </a:r>
          </a:p>
        </p:txBody>
      </p:sp>
      <p:sp>
        <p:nvSpPr>
          <p:cNvPr id="4" name="Rounded Rectangle 3"/>
          <p:cNvSpPr/>
          <p:nvPr/>
        </p:nvSpPr>
        <p:spPr>
          <a:xfrm>
            <a:off x="6217920" y="1645920"/>
            <a:ext cx="5242255" cy="4389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400">
                <a:solidFill>
                  <a:srgbClr val="319795"/>
                </a:solidFill>
              </a:defRPr>
            </a:pPr>
            <a:r>
              <a:t>The Shrinkflation Shield in Practice</a:t>
            </a:r>
          </a:p>
          <a:p>
            <a:pPr>
              <a:spcBef>
                <a:spcPts val="1000"/>
              </a:spcBef>
              <a:defRPr b="1" sz="1200">
                <a:solidFill>
                  <a:srgbClr val="1A365D"/>
                </a:solidFill>
              </a:defRPr>
            </a:pPr>
            <a:r>
              <a:t>Standardized Unit Price Formula:</a:t>
            </a:r>
            <a:br/>
            <a:r>
              <a:t>Price_unit = Shelf Price (KHR) / Normalized Volume (kg or L)</a:t>
            </a:r>
          </a:p>
          <a:p>
            <a:pPr>
              <a:spcBef>
                <a:spcPts val="800"/>
              </a:spcBef>
              <a:defRPr sz="1100">
                <a:solidFill>
                  <a:srgbClr val="2D3748"/>
                </a:solidFill>
              </a:defRPr>
            </a:pPr>
            <a:r>
              <a:t>• Case Study: Milk Packaging Reduction</a:t>
            </a:r>
          </a:p>
          <a:p>
            <a:pPr>
              <a:spcBef>
                <a:spcPts val="800"/>
              </a:spcBef>
              <a:defRPr sz="1100">
                <a:solidFill>
                  <a:srgbClr val="2D3748"/>
                </a:solidFill>
              </a:defRPr>
            </a:pPr>
            <a:r>
              <a:t>• Base Period: 1.0 Liter carton = 8,000 KHR (Unit price: 8,000 KHR/L).</a:t>
            </a:r>
          </a:p>
          <a:p>
            <a:pPr>
              <a:spcBef>
                <a:spcPts val="800"/>
              </a:spcBef>
              <a:defRPr sz="1100">
                <a:solidFill>
                  <a:srgbClr val="2D3748"/>
                </a:solidFill>
              </a:defRPr>
            </a:pPr>
            <a:r>
              <a:t>• Current Period: Package downsized to 0.9 Liters while shelf price remains 8,000 KHR.</a:t>
            </a:r>
          </a:p>
          <a:p>
            <a:pPr>
              <a:spcBef>
                <a:spcPts val="800"/>
              </a:spcBef>
              <a:defRPr sz="1100">
                <a:solidFill>
                  <a:srgbClr val="2D3748"/>
                </a:solidFill>
              </a:defRPr>
            </a:pPr>
            <a:r>
              <a:t>• Naive Shelf Comparison: 8,000 / 8,000 = 1.00 (Registers 0.0% inflation).</a:t>
            </a:r>
          </a:p>
          <a:p>
            <a:pPr>
              <a:spcBef>
                <a:spcPts val="800"/>
              </a:spcBef>
              <a:defRPr sz="1100">
                <a:solidFill>
                  <a:srgbClr val="2D3748"/>
                </a:solidFill>
              </a:defRPr>
            </a:pPr>
            <a:r>
              <a:t>• Pipeline Pure-Price Comparison: 8,889 KHR/L / 8,000 KHR/L = 1.1111 (Accurately registers +11.1% inflation surge).</a:t>
            </a:r>
          </a:p>
          <a:p>
            <a:pPr>
              <a:spcBef>
                <a:spcPts val="800"/>
              </a:spcBef>
              <a:defRPr sz="1100">
                <a:solidFill>
                  <a:srgbClr val="2D3748"/>
                </a:solidFill>
              </a:defRPr>
            </a:pPr>
            <a:r>
              <a:t>• Protects monetary statistics against disguised corporate price hikes.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Pillar 2: Longitudinal Entity Resolution</a:t>
            </a:r>
          </a:p>
          <a:p>
            <a:pPr>
              <a:spcBef>
                <a:spcPts val="400"/>
              </a:spcBef>
              <a:defRPr sz="1300">
                <a:solidFill>
                  <a:srgbClr val="3182CE"/>
                </a:solidFill>
              </a:defRPr>
            </a:pPr>
            <a:r>
              <a:t>How we track the exact same product over time across different stores</a:t>
            </a:r>
          </a:p>
        </p:txBody>
      </p:sp>
      <p:sp>
        <p:nvSpPr>
          <p:cNvPr id="3" name="Rounded Rectangle 2"/>
          <p:cNvSpPr/>
          <p:nvPr/>
        </p:nvSpPr>
        <p:spPr>
          <a:xfrm>
            <a:off x="731520" y="1645920"/>
            <a:ext cx="10728655" cy="868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300">
                <a:solidFill>
                  <a:srgbClr val="1A365D"/>
                </a:solidFill>
              </a:defRPr>
            </a:pPr>
            <a:r>
              <a:t>Level 1: GTIN-13 Barcode Alias</a:t>
            </a:r>
          </a:p>
          <a:p>
            <a:pPr>
              <a:spcBef>
                <a:spcPts val="200"/>
              </a:spcBef>
              <a:defRPr sz="1050">
                <a:solidFill>
                  <a:srgbClr val="2D3748"/>
                </a:solidFill>
              </a:defRPr>
            </a:pPr>
            <a:r>
              <a:t>Deterministic exact barcode lookup. Pre-indexed GTIN catalog handles vendor packaging updates with 100% precision.</a:t>
            </a:r>
          </a:p>
        </p:txBody>
      </p:sp>
      <p:sp>
        <p:nvSpPr>
          <p:cNvPr id="4" name="Rounded Rectangle 3"/>
          <p:cNvSpPr/>
          <p:nvPr/>
        </p:nvSpPr>
        <p:spPr>
          <a:xfrm>
            <a:off x="731520" y="2606040"/>
            <a:ext cx="10728655" cy="868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300">
                <a:solidFill>
                  <a:srgbClr val="1A365D"/>
                </a:solidFill>
              </a:defRPr>
            </a:pPr>
            <a:r>
              <a:t>Level 2: In-Memory Store SKU Index</a:t>
            </a:r>
          </a:p>
          <a:p>
            <a:pPr>
              <a:spcBef>
                <a:spcPts val="200"/>
              </a:spcBef>
              <a:defRPr sz="1050">
                <a:solidFill>
                  <a:srgbClr val="2D3748"/>
                </a:solidFill>
              </a:defRPr>
            </a:pPr>
            <a:r>
              <a:t>Sub-millisecond hash map matching (&lt;0.1ms). Re-identifies recurring catalog listings within the same retailer.</a:t>
            </a:r>
          </a:p>
        </p:txBody>
      </p:sp>
      <p:sp>
        <p:nvSpPr>
          <p:cNvPr id="5" name="Rounded Rectangle 4"/>
          <p:cNvSpPr/>
          <p:nvPr/>
        </p:nvSpPr>
        <p:spPr>
          <a:xfrm>
            <a:off x="731520" y="3566160"/>
            <a:ext cx="10728655" cy="868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300">
                <a:solidFill>
                  <a:srgbClr val="1A365D"/>
                </a:solidFill>
              </a:defRPr>
            </a:pPr>
            <a:r>
              <a:t>Level 3: Normalized Text + Size Tolerance</a:t>
            </a:r>
          </a:p>
          <a:p>
            <a:pPr>
              <a:spcBef>
                <a:spcPts val="200"/>
              </a:spcBef>
              <a:defRPr sz="1050">
                <a:solidFill>
                  <a:srgbClr val="2D3748"/>
                </a:solidFill>
              </a:defRPr>
            </a:pPr>
            <a:r>
              <a:t>Direct lexical matching combining normalized titles and strict metric quantity limits (&lt;=10% variance).</a:t>
            </a:r>
          </a:p>
        </p:txBody>
      </p:sp>
      <p:sp>
        <p:nvSpPr>
          <p:cNvPr id="6" name="Rounded Rectangle 5"/>
          <p:cNvSpPr/>
          <p:nvPr/>
        </p:nvSpPr>
        <p:spPr>
          <a:xfrm>
            <a:off x="731520" y="4526280"/>
            <a:ext cx="10728655" cy="868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300">
                <a:solidFill>
                  <a:srgbClr val="1A365D"/>
                </a:solidFill>
              </a:defRPr>
            </a:pPr>
            <a:r>
              <a:t>Level 4: Multilingual Vector + Spec Guard</a:t>
            </a:r>
          </a:p>
          <a:p>
            <a:pPr>
              <a:spcBef>
                <a:spcPts val="200"/>
              </a:spcBef>
              <a:defRPr sz="1050">
                <a:solidFill>
                  <a:srgbClr val="2D3748"/>
                </a:solidFill>
              </a:defRPr>
            </a:pPr>
            <a:r>
              <a:t>paraphrase-multilingual-mpnet embeddings (S_cos &gt;= 0.80) coupled with deterministic physical specification guards.</a:t>
            </a:r>
          </a:p>
        </p:txBody>
      </p:sp>
      <p:sp>
        <p:nvSpPr>
          <p:cNvPr id="7" name="Rounded Rectangle 6"/>
          <p:cNvSpPr/>
          <p:nvPr/>
        </p:nvSpPr>
        <p:spPr>
          <a:xfrm>
            <a:off x="731520" y="5486400"/>
            <a:ext cx="10728655" cy="868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300">
                <a:solidFill>
                  <a:srgbClr val="1A365D"/>
                </a:solidFill>
              </a:defRPr>
            </a:pPr>
            <a:r>
              <a:t>Level 5: Genuinely New Product Enrolment</a:t>
            </a:r>
          </a:p>
          <a:p>
            <a:pPr>
              <a:spcBef>
                <a:spcPts val="200"/>
              </a:spcBef>
              <a:defRPr sz="1050">
                <a:solidFill>
                  <a:srgbClr val="2D3748"/>
                </a:solidFill>
              </a:defRPr>
            </a:pPr>
            <a:r>
              <a:t>Enrolled into gold.dim_item_base_prices with shadow tracking on Day t and active relative comparison on Day t+1.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Pillar 3: Product Discontinuation &amp; Quality Adjustment</a:t>
            </a:r>
          </a:p>
          <a:p>
            <a:pPr>
              <a:spcBef>
                <a:spcPts val="400"/>
              </a:spcBef>
              <a:defRPr sz="1300">
                <a:solidFill>
                  <a:srgbClr val="3182CE"/>
                </a:solidFill>
              </a:defRPr>
            </a:pPr>
            <a:r>
              <a:t>Distinguishing pure monetary price movements from technological upgrades</a:t>
            </a:r>
          </a:p>
        </p:txBody>
      </p:sp>
      <p:sp>
        <p:nvSpPr>
          <p:cNvPr id="3" name="Rounded Rectangle 2"/>
          <p:cNvSpPr/>
          <p:nvPr/>
        </p:nvSpPr>
        <p:spPr>
          <a:xfrm>
            <a:off x="731520" y="1645920"/>
            <a:ext cx="10728655" cy="12344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300">
                <a:solidFill>
                  <a:srgbClr val="1A365D"/>
                </a:solidFill>
              </a:defRPr>
            </a:pPr>
            <a:r>
              <a:t>QUANTITY_ADJUSTED — Package Resizing / Downsizing</a:t>
            </a:r>
          </a:p>
          <a:p>
            <a:pPr>
              <a:spcBef>
                <a:spcPts val="400"/>
              </a:spcBef>
              <a:defRPr sz="1100">
                <a:solidFill>
                  <a:srgbClr val="2D3748"/>
                </a:solidFill>
              </a:defRPr>
            </a:pPr>
            <a:r>
              <a:t>When packaging changes for the same brand and product line, base prices are rescaled by the volume ratio (Volume_new / Volume_old). Prevents false artificial price jumps or drops.</a:t>
            </a:r>
          </a:p>
        </p:txBody>
      </p:sp>
      <p:sp>
        <p:nvSpPr>
          <p:cNvPr id="4" name="Rounded Rectangle 3"/>
          <p:cNvSpPr/>
          <p:nvPr/>
        </p:nvSpPr>
        <p:spPr>
          <a:xfrm>
            <a:off x="731520" y="3063240"/>
            <a:ext cx="10728655" cy="12344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300">
                <a:solidFill>
                  <a:srgbClr val="1A365D"/>
                </a:solidFill>
              </a:defRPr>
            </a:pPr>
            <a:r>
              <a:t>HEDONIC_ADJUSTED — Technological Feature Upgrades (Div 08/09)</a:t>
            </a:r>
          </a:p>
          <a:p>
            <a:pPr>
              <a:spcBef>
                <a:spcPts val="400"/>
              </a:spcBef>
              <a:defRPr sz="1100">
                <a:solidFill>
                  <a:srgbClr val="2D3748"/>
                </a:solidFill>
              </a:defRPr>
            </a:pPr>
            <a:r>
              <a:t>Deploys time-dummy log-linear hedonic regression across consumer hardware (smartphones, laptops). Isolates attribute shadow prices (e.g. +18.2% storage premium, +4.6% RAM premium) to compute constant-utility prices.</a:t>
            </a:r>
          </a:p>
        </p:txBody>
      </p:sp>
      <p:sp>
        <p:nvSpPr>
          <p:cNvPr id="5" name="Rounded Rectangle 4"/>
          <p:cNvSpPr/>
          <p:nvPr/>
        </p:nvSpPr>
        <p:spPr>
          <a:xfrm>
            <a:off x="731520" y="4480560"/>
            <a:ext cx="10728655" cy="12344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300">
                <a:solidFill>
                  <a:srgbClr val="1A365D"/>
                </a:solidFill>
              </a:defRPr>
            </a:pPr>
            <a:r>
              <a:t>DIRECT_EQUIVALENT — Identical Packaging &amp; Same Quality Tier</a:t>
            </a:r>
          </a:p>
          <a:p>
            <a:pPr>
              <a:spcBef>
                <a:spcPts val="400"/>
              </a:spcBef>
              <a:defRPr sz="1100">
                <a:solidFill>
                  <a:srgbClr val="2D3748"/>
                </a:solidFill>
              </a:defRPr>
            </a:pPr>
            <a:r>
              <a:t>Direct 1:1 replacement when brand, formulation, and specification are verified identical. Splice factor = 1.0.</a:t>
            </a:r>
          </a:p>
        </p:txBody>
      </p:sp>
      <p:sp>
        <p:nvSpPr>
          <p:cNvPr id="6" name="Rounded Rectangle 5"/>
          <p:cNvSpPr/>
          <p:nvPr/>
        </p:nvSpPr>
        <p:spPr>
          <a:xfrm>
            <a:off x="731520" y="5760720"/>
            <a:ext cx="10728655" cy="548640"/>
          </a:xfrm>
          <a:prstGeom prst="roundRect">
            <a:avLst/>
          </a:prstGeom>
          <a:solidFill>
            <a:srgbClr val="FFFFFF"/>
          </a:solidFill>
          <a:ln w="1270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182CE"/>
                </a:solidFill>
              </a:defRPr>
            </a:pPr>
            <a:r>
              <a:t>Audit Integrity: Every product replacement is permanently audited in silver.dim_product_replacements with full lineage.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Pillar 4: Defining the Elementary Aggregate</a:t>
            </a:r>
          </a:p>
          <a:p>
            <a:pPr>
              <a:spcBef>
                <a:spcPts val="400"/>
              </a:spcBef>
              <a:defRPr sz="1300">
                <a:solidFill>
                  <a:srgbClr val="3182CE"/>
                </a:solidFill>
              </a:defRPr>
            </a:pPr>
            <a:r>
              <a:t>The bedrock of the CPI pyramid where product prices become category indices</a:t>
            </a:r>
          </a:p>
        </p:txBody>
      </p:sp>
      <p:graphicFrame>
        <p:nvGraphicFramePr>
          <p:cNvPr id="3" name="Table 2"/>
          <p:cNvGraphicFramePr>
            <a:graphicFrameLocks noGrp="1"/>
          </p:cNvGraphicFramePr>
          <p:nvPr/>
        </p:nvGraphicFramePr>
        <p:xfrm>
          <a:off x="731520" y="1645920"/>
          <a:ext cx="10728655" cy="2926080"/>
        </p:xfrm>
        <a:graphic>
          <a:graphicData uri="http://schemas.openxmlformats.org/drawingml/2006/table">
            <a:tbl>
              <a:tblPr firstRow="1" bandRow="1">
                <a:tableStyleId>{5C22544A-7EE6-4342-B048-85BDC9FD1C3A}</a:tableStyleId>
              </a:tblPr>
              <a:tblGrid>
                <a:gridCol w="2560320"/>
                <a:gridCol w="2743200"/>
                <a:gridCol w="2681935"/>
                <a:gridCol w="2743200"/>
              </a:tblGrid>
              <a:tr h="731520">
                <a:tc>
                  <a:txBody>
                    <a:bodyPr/>
                    <a:lstStyle/>
                    <a:p>
                      <a:pPr>
                        <a:defRPr b="1" sz="1100">
                          <a:solidFill>
                            <a:srgbClr val="FFFFFF"/>
                          </a:solidFill>
                        </a:defRPr>
                      </a:pPr>
                      <a:r>
                        <a:t>Aggregator Formula</a:t>
                      </a:r>
                    </a:p>
                  </a:txBody>
                  <a:tcPr>
                    <a:solidFill>
                      <a:srgbClr val="1A365D"/>
                    </a:solidFill>
                  </a:tcPr>
                </a:tc>
                <a:tc>
                  <a:txBody>
                    <a:bodyPr/>
                    <a:lstStyle/>
                    <a:p>
                      <a:pPr>
                        <a:defRPr b="1" sz="1100">
                          <a:solidFill>
                            <a:srgbClr val="FFFFFF"/>
                          </a:solidFill>
                        </a:defRPr>
                      </a:pPr>
                      <a:r>
                        <a:t>Functional Definition</a:t>
                      </a:r>
                    </a:p>
                  </a:txBody>
                  <a:tcPr>
                    <a:solidFill>
                      <a:srgbClr val="1A365D"/>
                    </a:solidFill>
                  </a:tcPr>
                </a:tc>
                <a:tc>
                  <a:txBody>
                    <a:bodyPr/>
                    <a:lstStyle/>
                    <a:p>
                      <a:pPr>
                        <a:defRPr b="1" sz="1100">
                          <a:solidFill>
                            <a:srgbClr val="FFFFFF"/>
                          </a:solidFill>
                        </a:defRPr>
                      </a:pPr>
                      <a:r>
                        <a:t>Axiomatic Compliance</a:t>
                      </a:r>
                    </a:p>
                  </a:txBody>
                  <a:tcPr>
                    <a:solidFill>
                      <a:srgbClr val="1A365D"/>
                    </a:solidFill>
                  </a:tcPr>
                </a:tc>
                <a:tc>
                  <a:txBody>
                    <a:bodyPr/>
                    <a:lstStyle/>
                    <a:p>
                      <a:pPr>
                        <a:defRPr b="1" sz="1100">
                          <a:solidFill>
                            <a:srgbClr val="FFFFFF"/>
                          </a:solidFill>
                        </a:defRPr>
                      </a:pPr>
                      <a:r>
                        <a:t>Empirical Evaluation</a:t>
                      </a:r>
                    </a:p>
                  </a:txBody>
                  <a:tcPr>
                    <a:solidFill>
                      <a:srgbClr val="1A365D"/>
                    </a:solidFill>
                  </a:tcPr>
                </a:tc>
              </a:tr>
              <a:tr h="731520">
                <a:tc>
                  <a:txBody>
                    <a:bodyPr/>
                    <a:lstStyle/>
                    <a:p>
                      <a:pPr>
                        <a:defRPr sz="1050">
                          <a:solidFill>
                            <a:srgbClr val="2D3748"/>
                          </a:solidFill>
                        </a:defRPr>
                      </a:pPr>
                      <a:r>
                        <a:t>Carli (Arithmetic Mean)</a:t>
                      </a:r>
                    </a:p>
                  </a:txBody>
                  <a:tcPr>
                    <a:solidFill>
                      <a:srgbClr val="FFFFFF"/>
                    </a:solidFill>
                  </a:tcPr>
                </a:tc>
                <a:tc>
                  <a:txBody>
                    <a:bodyPr/>
                    <a:lstStyle/>
                    <a:p>
                      <a:pPr>
                        <a:defRPr sz="1050">
                          <a:solidFill>
                            <a:srgbClr val="2D3748"/>
                          </a:solidFill>
                        </a:defRPr>
                      </a:pPr>
                      <a:r>
                        <a:t>Mean(P_t / P_0)</a:t>
                      </a:r>
                    </a:p>
                  </a:txBody>
                  <a:tcPr>
                    <a:solidFill>
                      <a:srgbClr val="FFFFFF"/>
                    </a:solidFill>
                  </a:tcPr>
                </a:tc>
                <a:tc>
                  <a:txBody>
                    <a:bodyPr/>
                    <a:lstStyle/>
                    <a:p>
                      <a:pPr>
                        <a:defRPr sz="1050">
                          <a:solidFill>
                            <a:srgbClr val="2D3748"/>
                          </a:solidFill>
                        </a:defRPr>
                      </a:pPr>
                      <a:r>
                        <a:t>Fails Time-Reversal</a:t>
                      </a:r>
                      <a:br/>
                      <a:r>
                        <a:t>Violates Circularity</a:t>
                      </a:r>
                    </a:p>
                  </a:txBody>
                  <a:tcPr>
                    <a:solidFill>
                      <a:srgbClr val="FFFFFF"/>
                    </a:solidFill>
                  </a:tcPr>
                </a:tc>
                <a:tc>
                  <a:txBody>
                    <a:bodyPr/>
                    <a:lstStyle/>
                    <a:p>
                      <a:pPr>
                        <a:defRPr sz="1050">
                          <a:solidFill>
                            <a:srgbClr val="2D3748"/>
                          </a:solidFill>
                        </a:defRPr>
                      </a:pPr>
                      <a:r>
                        <a:t>+1.18% Artificial Upward Drift per year</a:t>
                      </a:r>
                    </a:p>
                  </a:txBody>
                  <a:tcPr>
                    <a:solidFill>
                      <a:srgbClr val="FFFFFF"/>
                    </a:solidFill>
                  </a:tcPr>
                </a:tc>
              </a:tr>
              <a:tr h="731520">
                <a:tc>
                  <a:txBody>
                    <a:bodyPr/>
                    <a:lstStyle/>
                    <a:p>
                      <a:pPr>
                        <a:defRPr sz="1050">
                          <a:solidFill>
                            <a:srgbClr val="2D3748"/>
                          </a:solidFill>
                        </a:defRPr>
                      </a:pPr>
                      <a:r>
                        <a:t>Dutot (Ratio of Averages)</a:t>
                      </a:r>
                    </a:p>
                  </a:txBody>
                  <a:tcPr>
                    <a:solidFill>
                      <a:srgbClr val="FFFFFF"/>
                    </a:solidFill>
                  </a:tcPr>
                </a:tc>
                <a:tc>
                  <a:txBody>
                    <a:bodyPr/>
                    <a:lstStyle/>
                    <a:p>
                      <a:pPr>
                        <a:defRPr sz="1050">
                          <a:solidFill>
                            <a:srgbClr val="2D3748"/>
                          </a:solidFill>
                        </a:defRPr>
                      </a:pPr>
                      <a:r>
                        <a:t>Mean(P_t) / Mean(P_0)</a:t>
                      </a:r>
                    </a:p>
                  </a:txBody>
                  <a:tcPr>
                    <a:solidFill>
                      <a:srgbClr val="FFFFFF"/>
                    </a:solidFill>
                  </a:tcPr>
                </a:tc>
                <a:tc>
                  <a:txBody>
                    <a:bodyPr/>
                    <a:lstStyle/>
                    <a:p>
                      <a:pPr>
                        <a:defRPr sz="1050">
                          <a:solidFill>
                            <a:srgbClr val="2D3748"/>
                          </a:solidFill>
                        </a:defRPr>
                      </a:pPr>
                      <a:r>
                        <a:t>Commensurability Deficit (Unit sensitive)</a:t>
                      </a:r>
                    </a:p>
                  </a:txBody>
                  <a:tcPr>
                    <a:solidFill>
                      <a:srgbClr val="FFFFFF"/>
                    </a:solidFill>
                  </a:tcPr>
                </a:tc>
                <a:tc>
                  <a:txBody>
                    <a:bodyPr/>
                    <a:lstStyle/>
                    <a:p>
                      <a:pPr>
                        <a:defRPr sz="1050">
                          <a:solidFill>
                            <a:srgbClr val="2D3748"/>
                          </a:solidFill>
                        </a:defRPr>
                      </a:pPr>
                      <a:r>
                        <a:t>Distorted by high-priced outlier SKUs</a:t>
                      </a:r>
                    </a:p>
                  </a:txBody>
                  <a:tcPr>
                    <a:solidFill>
                      <a:srgbClr val="FFFFFF"/>
                    </a:solidFill>
                  </a:tcPr>
                </a:tc>
              </a:tr>
              <a:tr h="731520">
                <a:tc>
                  <a:txBody>
                    <a:bodyPr/>
                    <a:lstStyle/>
                    <a:p>
                      <a:pPr>
                        <a:defRPr sz="1050" b="1">
                          <a:solidFill>
                            <a:srgbClr val="1A365D"/>
                          </a:solidFill>
                        </a:defRPr>
                      </a:pPr>
                      <a:r>
                        <a:t>Jevons (Geometric Mean)</a:t>
                      </a:r>
                    </a:p>
                  </a:txBody>
                  <a:tcPr>
                    <a:solidFill>
                      <a:srgbClr val="EBF8FF"/>
                    </a:solidFill>
                  </a:tcPr>
                </a:tc>
                <a:tc>
                  <a:txBody>
                    <a:bodyPr/>
                    <a:lstStyle/>
                    <a:p>
                      <a:pPr>
                        <a:defRPr sz="1050" b="1">
                          <a:solidFill>
                            <a:srgbClr val="1A365D"/>
                          </a:solidFill>
                        </a:defRPr>
                      </a:pPr>
                      <a:r>
                        <a:t>exp( Mean( ln(P_t / P_0) ) )</a:t>
                      </a:r>
                    </a:p>
                  </a:txBody>
                  <a:tcPr>
                    <a:solidFill>
                      <a:srgbClr val="EBF8FF"/>
                    </a:solidFill>
                  </a:tcPr>
                </a:tc>
                <a:tc>
                  <a:txBody>
                    <a:bodyPr/>
                    <a:lstStyle/>
                    <a:p>
                      <a:pPr>
                        <a:defRPr sz="1050" b="1">
                          <a:solidFill>
                            <a:srgbClr val="1A365D"/>
                          </a:solidFill>
                        </a:defRPr>
                      </a:pPr>
                      <a:r>
                        <a:t>Passes Time-Reversal &amp; Transitivity Axioms</a:t>
                      </a:r>
                    </a:p>
                  </a:txBody>
                  <a:tcPr>
                    <a:solidFill>
                      <a:srgbClr val="EBF8FF"/>
                    </a:solidFill>
                  </a:tcPr>
                </a:tc>
                <a:tc>
                  <a:txBody>
                    <a:bodyPr/>
                    <a:lstStyle/>
                    <a:p>
                      <a:pPr>
                        <a:defRPr sz="1050" b="1">
                          <a:solidFill>
                            <a:srgbClr val="1A365D"/>
                          </a:solidFill>
                        </a:defRPr>
                      </a:pPr>
                      <a:r>
                        <a:t>0.00% Drift — Gold Standard Benchmark</a:t>
                      </a:r>
                    </a:p>
                  </a:txBody>
                  <a:tcPr>
                    <a:solidFill>
                      <a:srgbClr val="EBF8FF"/>
                    </a:solidFill>
                  </a:tcPr>
                </a:tc>
              </a:tr>
            </a:tbl>
          </a:graphicData>
        </a:graphic>
      </p:graphicFrame>
      <p:sp>
        <p:nvSpPr>
          <p:cNvPr id="4" name="Rounded Rectangle 3"/>
          <p:cNvSpPr/>
          <p:nvPr/>
        </p:nvSpPr>
        <p:spPr>
          <a:xfrm>
            <a:off x="731520" y="4846320"/>
            <a:ext cx="10728655" cy="14630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200">
                <a:solidFill>
                  <a:srgbClr val="1A365D"/>
                </a:solidFill>
              </a:defRPr>
            </a:pPr>
            <a:r>
              <a:t>Why Jevons is Compulsory in Digital Web Scraping:</a:t>
            </a:r>
          </a:p>
          <a:p>
            <a:pPr>
              <a:spcBef>
                <a:spcPts val="400"/>
              </a:spcBef>
              <a:defRPr sz="1050">
                <a:solidFill>
                  <a:srgbClr val="2D3748"/>
                </a:solidFill>
              </a:defRPr>
            </a:pPr>
            <a:r>
              <a:t>In e-commerce datasets, prices bounce frequently due to promotional campaigns. If an item drops from 10,000 KHR to 8,000 KHR and returns to 10,000 KHR, Carli registers an artificial +2.5% inflation gain (0.5 * (0.8 + 1.25) = 1.025). Jevons evaluates exactly to 1.0000 (zero drift), preventing phantom inflation accumulation.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The Mathematical Engine: Eliminating Catalog Size Skew</a:t>
            </a:r>
          </a:p>
          <a:p>
            <a:pPr>
              <a:spcBef>
                <a:spcPts val="400"/>
              </a:spcBef>
              <a:defRPr sz="1300">
                <a:solidFill>
                  <a:srgbClr val="3182CE"/>
                </a:solidFill>
              </a:defRPr>
            </a:pPr>
            <a:r>
              <a:t>Why equal store weighting is required for digital web scraping (ILO §6.57–6.68)</a:t>
            </a:r>
          </a:p>
        </p:txBody>
      </p:sp>
      <p:sp>
        <p:nvSpPr>
          <p:cNvPr id="3" name="Rounded Rectangle 2"/>
          <p:cNvSpPr/>
          <p:nvPr/>
        </p:nvSpPr>
        <p:spPr>
          <a:xfrm>
            <a:off x="731520" y="1645920"/>
            <a:ext cx="5120640" cy="32918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300">
                <a:solidFill>
                  <a:srgbClr val="1A365D"/>
                </a:solidFill>
              </a:defRPr>
            </a:pPr>
            <a:r>
              <a:t>Stage 1: Store-Level Geometric Mean</a:t>
            </a:r>
          </a:p>
          <a:p>
            <a:pPr>
              <a:spcBef>
                <a:spcPts val="800"/>
              </a:spcBef>
              <a:defRPr b="1" sz="1200">
                <a:solidFill>
                  <a:srgbClr val="3182CE"/>
                </a:solidFill>
              </a:defRPr>
            </a:pPr>
            <a:r>
              <a:t>r_s = exp( 1/m_s * sum_{i=1}^{m_s} ln( P_{i,s,t} / P_{i,s,0} ) )</a:t>
            </a:r>
          </a:p>
          <a:p>
            <a:pPr>
              <a:spcBef>
                <a:spcPts val="800"/>
              </a:spcBef>
              <a:defRPr sz="1050">
                <a:solidFill>
                  <a:srgbClr val="2D3748"/>
                </a:solidFill>
              </a:defRPr>
            </a:pPr>
            <a:r>
              <a:t>• Averages price relatives within each retail establishment s independently.</a:t>
            </a:r>
            <a:br/>
            <a:r>
              <a:t>• Each retailer produces exactly one consolidated price relative r_s per COICOP subclass.</a:t>
            </a:r>
            <a:br/>
            <a:r>
              <a:t>• Protects against item churn within individual stores.</a:t>
            </a:r>
          </a:p>
        </p:txBody>
      </p:sp>
      <p:sp>
        <p:nvSpPr>
          <p:cNvPr id="4" name="Rounded Rectangle 3"/>
          <p:cNvSpPr/>
          <p:nvPr/>
        </p:nvSpPr>
        <p:spPr>
          <a:xfrm>
            <a:off x="6217920" y="1645920"/>
            <a:ext cx="5242255" cy="32918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300">
                <a:solidFill>
                  <a:srgbClr val="1A365D"/>
                </a:solidFill>
              </a:defRPr>
            </a:pPr>
            <a:r>
              <a:t>Stage 2: Class Elementary Index</a:t>
            </a:r>
          </a:p>
          <a:p>
            <a:pPr>
              <a:spcBef>
                <a:spcPts val="800"/>
              </a:spcBef>
              <a:defRPr b="1" sz="1200">
                <a:solidFill>
                  <a:srgbClr val="3182CE"/>
                </a:solidFill>
              </a:defRPr>
            </a:pPr>
            <a:r>
              <a:t>I_{Class, t} = exp( 1/S * sum_{s=1}^S ln( r_s ) ) * 100</a:t>
            </a:r>
          </a:p>
          <a:p>
            <a:pPr>
              <a:spcBef>
                <a:spcPts val="800"/>
              </a:spcBef>
              <a:defRPr sz="1050">
                <a:solidFill>
                  <a:srgbClr val="2D3748"/>
                </a:solidFill>
              </a:defRPr>
            </a:pPr>
            <a:r>
              <a:t>• Synthesizes store-level means across all S active retail outlets.</a:t>
            </a:r>
            <a:br/>
            <a:r>
              <a:t>• Equal store representation: Each retailer carries exactly weight 1/S.</a:t>
            </a:r>
            <a:br/>
            <a:r>
              <a:t>• Fully complies with ILO CPI Manual 2020 recommendations for web-scraped data.</a:t>
            </a:r>
          </a:p>
        </p:txBody>
      </p:sp>
      <p:sp>
        <p:nvSpPr>
          <p:cNvPr id="5" name="Rounded Rectangle 4"/>
          <p:cNvSpPr/>
          <p:nvPr/>
        </p:nvSpPr>
        <p:spPr>
          <a:xfrm>
            <a:off x="731520" y="5120640"/>
            <a:ext cx="10728655" cy="128016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b="1" sz="1200">
                <a:solidFill>
                  <a:srgbClr val="319795"/>
                </a:solidFill>
              </a:defRPr>
            </a:pPr>
            <a:r>
              <a:t>The Catalog Dominance Problem Solved:</a:t>
            </a:r>
          </a:p>
          <a:p>
            <a:pPr>
              <a:spcBef>
                <a:spcPts val="400"/>
              </a:spcBef>
              <a:defRPr sz="1050">
                <a:solidFill>
                  <a:srgbClr val="2D3748"/>
                </a:solidFill>
              </a:defRPr>
            </a:pPr>
            <a:r>
              <a:t>If Hypermarket A lists 190 items and Local Grocer B lists 10 items, standard flat pooling lets Hypermarket A dictate 95% of the national elementary index. Two-Stage Jevons restores equal merchant representation (50% / 50%), preventing a single supermarket's inventory updates from hijacking sovereign inflation.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Sensitivity Analysis: Empirical Production Validation</a:t>
            </a:r>
          </a:p>
          <a:p>
            <a:pPr>
              <a:spcBef>
                <a:spcPts val="400"/>
              </a:spcBef>
              <a:defRPr sz="1300">
                <a:solidFill>
                  <a:srgbClr val="3182CE"/>
                </a:solidFill>
              </a:defRPr>
            </a:pPr>
            <a:r>
              <a:t>Empirical findings across 41 continuous production days (Aug 18 – Sep 27, 2026)</a:t>
            </a:r>
          </a:p>
        </p:txBody>
      </p:sp>
      <p:sp>
        <p:nvSpPr>
          <p:cNvPr id="3" name="Rounded Rectangle 2"/>
          <p:cNvSpPr/>
          <p:nvPr/>
        </p:nvSpPr>
        <p:spPr>
          <a:xfrm>
            <a:off x="731520" y="1645920"/>
            <a:ext cx="5120640" cy="10058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100">
                <a:solidFill>
                  <a:srgbClr val="2D3748"/>
                </a:solidFill>
              </a:defRPr>
            </a:pPr>
            <a:r>
              <a:t>Total Evaluation Days</a:t>
            </a:r>
          </a:p>
          <a:p>
            <a:pPr>
              <a:defRPr b="1" sz="1600">
                <a:solidFill>
                  <a:srgbClr val="1A365D"/>
                </a:solidFill>
              </a:defRPr>
            </a:pPr>
            <a:r>
              <a:t>41 Continuous Days</a:t>
            </a:r>
          </a:p>
          <a:p>
            <a:pPr>
              <a:defRPr sz="950">
                <a:solidFill>
                  <a:srgbClr val="3182CE"/>
                </a:solidFill>
              </a:defRPr>
            </a:pPr>
            <a:r>
              <a:t>Continuous daily historical series</a:t>
            </a:r>
          </a:p>
        </p:txBody>
      </p:sp>
      <p:sp>
        <p:nvSpPr>
          <p:cNvPr id="4" name="Rounded Rectangle 3"/>
          <p:cNvSpPr/>
          <p:nvPr/>
        </p:nvSpPr>
        <p:spPr>
          <a:xfrm>
            <a:off x="731520" y="2788920"/>
            <a:ext cx="5120640" cy="10058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100">
                <a:solidFill>
                  <a:srgbClr val="2D3748"/>
                </a:solidFill>
              </a:defRPr>
            </a:pPr>
            <a:r>
              <a:t>Mean Store-Balanced CPI</a:t>
            </a:r>
          </a:p>
          <a:p>
            <a:pPr>
              <a:defRPr b="1" sz="1600">
                <a:solidFill>
                  <a:srgbClr val="1A365D"/>
                </a:solidFill>
              </a:defRPr>
            </a:pPr>
            <a:r>
              <a:t>100.46</a:t>
            </a:r>
          </a:p>
          <a:p>
            <a:pPr>
              <a:defRPr sz="950">
                <a:solidFill>
                  <a:srgbClr val="3182CE"/>
                </a:solidFill>
              </a:defRPr>
            </a:pPr>
            <a:r>
              <a:t>Two-Stage Store-Balanced pipeline</a:t>
            </a:r>
          </a:p>
        </p:txBody>
      </p:sp>
      <p:sp>
        <p:nvSpPr>
          <p:cNvPr id="5" name="Rounded Rectangle 4"/>
          <p:cNvSpPr/>
          <p:nvPr/>
        </p:nvSpPr>
        <p:spPr>
          <a:xfrm>
            <a:off x="731520" y="3931920"/>
            <a:ext cx="5120640" cy="10058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100">
                <a:solidFill>
                  <a:srgbClr val="2D3748"/>
                </a:solidFill>
              </a:defRPr>
            </a:pPr>
            <a:r>
              <a:t>Mean Flat Jevons CPI</a:t>
            </a:r>
          </a:p>
          <a:p>
            <a:pPr>
              <a:defRPr b="1" sz="1600">
                <a:solidFill>
                  <a:srgbClr val="1A365D"/>
                </a:solidFill>
              </a:defRPr>
            </a:pPr>
            <a:r>
              <a:t>99.95</a:t>
            </a:r>
          </a:p>
          <a:p>
            <a:pPr>
              <a:defRPr sz="950">
                <a:solidFill>
                  <a:srgbClr val="3182CE"/>
                </a:solidFill>
              </a:defRPr>
            </a:pPr>
            <a:r>
              <a:t>Unweighted flat sample pool</a:t>
            </a:r>
          </a:p>
        </p:txBody>
      </p:sp>
      <p:sp>
        <p:nvSpPr>
          <p:cNvPr id="6" name="Rounded Rectangle 5"/>
          <p:cNvSpPr/>
          <p:nvPr/>
        </p:nvSpPr>
        <p:spPr>
          <a:xfrm>
            <a:off x="731520" y="5074920"/>
            <a:ext cx="5120640" cy="10058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100">
                <a:solidFill>
                  <a:srgbClr val="2D3748"/>
                </a:solidFill>
              </a:defRPr>
            </a:pPr>
            <a:r>
              <a:t>Empirical Correction (Delta)</a:t>
            </a:r>
          </a:p>
          <a:p>
            <a:pPr>
              <a:defRPr b="1" sz="1600">
                <a:solidFill>
                  <a:srgbClr val="319795"/>
                </a:solidFill>
              </a:defRPr>
            </a:pPr>
            <a:r>
              <a:t>+0.52 index points</a:t>
            </a:r>
          </a:p>
          <a:p>
            <a:pPr>
              <a:defRPr sz="950">
                <a:solidFill>
                  <a:srgbClr val="3182CE"/>
                </a:solidFill>
              </a:defRPr>
            </a:pPr>
            <a:r>
              <a:t>Statistically significant bias mitigation</a:t>
            </a:r>
          </a:p>
        </p:txBody>
      </p:sp>
      <p:sp>
        <p:nvSpPr>
          <p:cNvPr id="7" name="Rounded Rectangle 6"/>
          <p:cNvSpPr/>
          <p:nvPr/>
        </p:nvSpPr>
        <p:spPr>
          <a:xfrm>
            <a:off x="6217920" y="1645920"/>
            <a:ext cx="5242255" cy="44348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400">
                <a:solidFill>
                  <a:srgbClr val="1A365D"/>
                </a:solidFill>
              </a:defRPr>
            </a:pPr>
            <a:r>
              <a:t>Key Takeaways for Economists &amp; Statisticians</a:t>
            </a:r>
          </a:p>
          <a:p>
            <a:pPr>
              <a:spcBef>
                <a:spcPts val="1000"/>
              </a:spcBef>
              <a:defRPr sz="1100">
                <a:solidFill>
                  <a:srgbClr val="2D3748"/>
                </a:solidFill>
              </a:defRPr>
            </a:pPr>
            <a:r>
              <a:t>• Elimination of Catalog Bias: Under flat Jevons, large digital grocers listing thousands of discounted items artificially suppress the national CPI by -0.52 index points. Two-stage balancing neutralizes catalog size distortion.</a:t>
            </a:r>
          </a:p>
          <a:p>
            <a:pPr>
              <a:spcBef>
                <a:spcPts val="1000"/>
              </a:spcBef>
              <a:defRPr sz="1100">
                <a:solidFill>
                  <a:srgbClr val="2D3748"/>
                </a:solidFill>
              </a:defRPr>
            </a:pPr>
            <a:r>
              <a:t>• 64.0% Variance Reduction: Store balancing dramatically dampens erratic daily index swings caused by promotional inventory flushes in single outlets.</a:t>
            </a:r>
          </a:p>
          <a:p>
            <a:pPr>
              <a:spcBef>
                <a:spcPts val="1000"/>
              </a:spcBef>
              <a:defRPr sz="1100">
                <a:solidFill>
                  <a:srgbClr val="2D3748"/>
                </a:solidFill>
              </a:defRPr>
            </a:pPr>
            <a:r>
              <a:t>• 33.7% Tracking Error Reduction: Benchmarking error against retrospective official NIS sovereign releases dropped from 0.0902 down to 0.0598 index points.</a:t>
            </a:r>
          </a:p>
          <a:p>
            <a:pPr>
              <a:spcBef>
                <a:spcPts val="1000"/>
              </a:spcBef>
              <a:defRPr sz="1100">
                <a:solidFill>
                  <a:srgbClr val="2D3748"/>
                </a:solidFill>
              </a:defRPr>
            </a:pPr>
            <a:r>
              <a:t>• Policy Defensibility: Provides central banks and statistical agencies with mathematically defensible aggregates that do not shift arbitrarily when web scrapers add new retail outlets.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Macro Aggregation: Official CEIC &amp; CSES Laspeyres Synthesis</a:t>
            </a:r>
          </a:p>
          <a:p>
            <a:pPr>
              <a:spcBef>
                <a:spcPts val="400"/>
              </a:spcBef>
              <a:defRPr sz="1300">
                <a:solidFill>
                  <a:srgbClr val="3182CE"/>
                </a:solidFill>
              </a:defRPr>
            </a:pPr>
            <a:r>
              <a:t>Combining elementary indices using official Cambodia NIS expenditure weights</a:t>
            </a:r>
          </a:p>
        </p:txBody>
      </p:sp>
      <p:graphicFrame>
        <p:nvGraphicFramePr>
          <p:cNvPr id="3" name="Table 2"/>
          <p:cNvGraphicFramePr>
            <a:graphicFrameLocks noGrp="1"/>
          </p:cNvGraphicFramePr>
          <p:nvPr/>
        </p:nvGraphicFramePr>
        <p:xfrm>
          <a:off x="731520" y="1645920"/>
          <a:ext cx="10727740" cy="4389120"/>
        </p:xfrm>
        <a:graphic>
          <a:graphicData uri="http://schemas.openxmlformats.org/drawingml/2006/table">
            <a:tbl>
              <a:tblPr firstRow="1" bandRow="1">
                <a:tableStyleId>{5C22544A-7EE6-4342-B048-85BDC9FD1C3A}</a:tableStyleId>
              </a:tblPr>
              <a:tblGrid>
                <a:gridCol w="1097280"/>
                <a:gridCol w="4389120"/>
                <a:gridCol w="2620670"/>
                <a:gridCol w="2620670"/>
              </a:tblGrid>
              <a:tr h="627017">
                <a:tc>
                  <a:txBody>
                    <a:bodyPr/>
                    <a:lstStyle/>
                    <a:p>
                      <a:pPr>
                        <a:defRPr b="1" sz="1100">
                          <a:solidFill>
                            <a:srgbClr val="FFFFFF"/>
                          </a:solidFill>
                        </a:defRPr>
                      </a:pPr>
                      <a:r>
                        <a:t>Div</a:t>
                      </a:r>
                    </a:p>
                  </a:txBody>
                  <a:tcPr>
                    <a:solidFill>
                      <a:srgbClr val="1A365D"/>
                    </a:solidFill>
                  </a:tcPr>
                </a:tc>
                <a:tc>
                  <a:txBody>
                    <a:bodyPr/>
                    <a:lstStyle/>
                    <a:p>
                      <a:pPr>
                        <a:defRPr b="1" sz="1100">
                          <a:solidFill>
                            <a:srgbClr val="FFFFFF"/>
                          </a:solidFill>
                        </a:defRPr>
                      </a:pPr>
                      <a:r>
                        <a:t>COICOP Division Nomenclature</a:t>
                      </a:r>
                    </a:p>
                  </a:txBody>
                  <a:tcPr>
                    <a:solidFill>
                      <a:srgbClr val="1A365D"/>
                    </a:solidFill>
                  </a:tcPr>
                </a:tc>
                <a:tc>
                  <a:txBody>
                    <a:bodyPr/>
                    <a:lstStyle/>
                    <a:p>
                      <a:pPr>
                        <a:defRPr b="1" sz="1100">
                          <a:solidFill>
                            <a:srgbClr val="FFFFFF"/>
                          </a:solidFill>
                        </a:defRPr>
                      </a:pPr>
                      <a:r>
                        <a:t>CEIC / CSES Weight</a:t>
                      </a:r>
                    </a:p>
                  </a:txBody>
                  <a:tcPr>
                    <a:solidFill>
                      <a:srgbClr val="1A365D"/>
                    </a:solidFill>
                  </a:tcPr>
                </a:tc>
                <a:tc>
                  <a:txBody>
                    <a:bodyPr/>
                    <a:lstStyle/>
                    <a:p>
                      <a:pPr>
                        <a:defRPr b="1" sz="1100">
                          <a:solidFill>
                            <a:srgbClr val="FFFFFF"/>
                          </a:solidFill>
                        </a:defRPr>
                      </a:pPr>
                      <a:r>
                        <a:t>Terminal Index Level</a:t>
                      </a:r>
                    </a:p>
                  </a:txBody>
                  <a:tcPr>
                    <a:solidFill>
                      <a:srgbClr val="1A365D"/>
                    </a:solidFill>
                  </a:tcPr>
                </a:tc>
              </a:tr>
              <a:tr h="627017">
                <a:tc>
                  <a:txBody>
                    <a:bodyPr/>
                    <a:lstStyle/>
                    <a:p>
                      <a:pPr>
                        <a:defRPr sz="1050">
                          <a:solidFill>
                            <a:srgbClr val="1A365D"/>
                          </a:solidFill>
                        </a:defRPr>
                      </a:pPr>
                      <a:r>
                        <a:t>01</a:t>
                      </a:r>
                    </a:p>
                  </a:txBody>
                  <a:tcPr>
                    <a:solidFill>
                      <a:srgbClr val="FFFFFF"/>
                    </a:solidFill>
                  </a:tcPr>
                </a:tc>
                <a:tc>
                  <a:txBody>
                    <a:bodyPr/>
                    <a:lstStyle/>
                    <a:p>
                      <a:pPr>
                        <a:defRPr sz="1050">
                          <a:solidFill>
                            <a:srgbClr val="2D3748"/>
                          </a:solidFill>
                        </a:defRPr>
                      </a:pPr>
                      <a:r>
                        <a:t>Food and Non-Alcoholic Beverages (Staples, Rice, Meat, Fish)</a:t>
                      </a:r>
                    </a:p>
                  </a:txBody>
                  <a:tcPr>
                    <a:solidFill>
                      <a:srgbClr val="FFFFFF"/>
                    </a:solidFill>
                  </a:tcPr>
                </a:tc>
                <a:tc>
                  <a:txBody>
                    <a:bodyPr/>
                    <a:lstStyle/>
                    <a:p>
                      <a:pPr>
                        <a:defRPr sz="1050" b="1">
                          <a:solidFill>
                            <a:srgbClr val="1A365D"/>
                          </a:solidFill>
                        </a:defRPr>
                      </a:pPr>
                      <a:r>
                        <a:t>44.775%</a:t>
                      </a:r>
                    </a:p>
                  </a:txBody>
                  <a:tcPr>
                    <a:solidFill>
                      <a:srgbClr val="FFFFFF"/>
                    </a:solidFill>
                  </a:tcPr>
                </a:tc>
                <a:tc>
                  <a:txBody>
                    <a:bodyPr/>
                    <a:lstStyle/>
                    <a:p>
                      <a:pPr>
                        <a:defRPr sz="1050">
                          <a:solidFill>
                            <a:srgbClr val="2D3748"/>
                          </a:solidFill>
                        </a:defRPr>
                      </a:pPr>
                      <a:r>
                        <a:t>100.13 (Daily harvest cycles)</a:t>
                      </a:r>
                    </a:p>
                  </a:txBody>
                  <a:tcPr>
                    <a:solidFill>
                      <a:srgbClr val="FFFFFF"/>
                    </a:solidFill>
                  </a:tcPr>
                </a:tc>
              </a:tr>
              <a:tr h="627017">
                <a:tc>
                  <a:txBody>
                    <a:bodyPr/>
                    <a:lstStyle/>
                    <a:p>
                      <a:pPr>
                        <a:defRPr sz="1050">
                          <a:solidFill>
                            <a:srgbClr val="1A365D"/>
                          </a:solidFill>
                        </a:defRPr>
                      </a:pPr>
                      <a:r>
                        <a:t>04</a:t>
                      </a:r>
                    </a:p>
                  </a:txBody>
                  <a:tcPr>
                    <a:solidFill>
                      <a:srgbClr val="F7FAFC"/>
                    </a:solidFill>
                  </a:tcPr>
                </a:tc>
                <a:tc>
                  <a:txBody>
                    <a:bodyPr/>
                    <a:lstStyle/>
                    <a:p>
                      <a:pPr>
                        <a:defRPr sz="1050">
                          <a:solidFill>
                            <a:srgbClr val="2D3748"/>
                          </a:solidFill>
                        </a:defRPr>
                      </a:pPr>
                      <a:r>
                        <a:t>Housing, Water, Electricity, Gas and Other Fuels</a:t>
                      </a:r>
                    </a:p>
                  </a:txBody>
                  <a:tcPr>
                    <a:solidFill>
                      <a:srgbClr val="F7FAFC"/>
                    </a:solidFill>
                  </a:tcPr>
                </a:tc>
                <a:tc>
                  <a:txBody>
                    <a:bodyPr/>
                    <a:lstStyle/>
                    <a:p>
                      <a:pPr>
                        <a:defRPr sz="1050" b="1">
                          <a:solidFill>
                            <a:srgbClr val="1A365D"/>
                          </a:solidFill>
                        </a:defRPr>
                      </a:pPr>
                      <a:r>
                        <a:t>17.084%</a:t>
                      </a:r>
                    </a:p>
                  </a:txBody>
                  <a:tcPr>
                    <a:solidFill>
                      <a:srgbClr val="F7FAFC"/>
                    </a:solidFill>
                  </a:tcPr>
                </a:tc>
                <a:tc>
                  <a:txBody>
                    <a:bodyPr/>
                    <a:lstStyle/>
                    <a:p>
                      <a:pPr>
                        <a:defRPr sz="1050">
                          <a:solidFill>
                            <a:srgbClr val="2D3748"/>
                          </a:solidFill>
                        </a:defRPr>
                      </a:pPr>
                      <a:r>
                        <a:t>99.73 (Regulated utility stability)</a:t>
                      </a:r>
                    </a:p>
                  </a:txBody>
                  <a:tcPr>
                    <a:solidFill>
                      <a:srgbClr val="F7FAFC"/>
                    </a:solidFill>
                  </a:tcPr>
                </a:tc>
              </a:tr>
              <a:tr h="627017">
                <a:tc>
                  <a:txBody>
                    <a:bodyPr/>
                    <a:lstStyle/>
                    <a:p>
                      <a:pPr>
                        <a:defRPr sz="1050">
                          <a:solidFill>
                            <a:srgbClr val="1A365D"/>
                          </a:solidFill>
                        </a:defRPr>
                      </a:pPr>
                      <a:r>
                        <a:t>07</a:t>
                      </a:r>
                    </a:p>
                  </a:txBody>
                  <a:tcPr>
                    <a:solidFill>
                      <a:srgbClr val="FFFFFF"/>
                    </a:solidFill>
                  </a:tcPr>
                </a:tc>
                <a:tc>
                  <a:txBody>
                    <a:bodyPr/>
                    <a:lstStyle/>
                    <a:p>
                      <a:pPr>
                        <a:defRPr sz="1050">
                          <a:solidFill>
                            <a:srgbClr val="2D3748"/>
                          </a:solidFill>
                        </a:defRPr>
                      </a:pPr>
                      <a:r>
                        <a:t>Transport (Motor Gasoline, Diesel, Fares)</a:t>
                      </a:r>
                    </a:p>
                  </a:txBody>
                  <a:tcPr>
                    <a:solidFill>
                      <a:srgbClr val="FFFFFF"/>
                    </a:solidFill>
                  </a:tcPr>
                </a:tc>
                <a:tc>
                  <a:txBody>
                    <a:bodyPr/>
                    <a:lstStyle/>
                    <a:p>
                      <a:pPr>
                        <a:defRPr sz="1050" b="1">
                          <a:solidFill>
                            <a:srgbClr val="1A365D"/>
                          </a:solidFill>
                        </a:defRPr>
                      </a:pPr>
                      <a:r>
                        <a:t>12.228%</a:t>
                      </a:r>
                    </a:p>
                  </a:txBody>
                  <a:tcPr>
                    <a:solidFill>
                      <a:srgbClr val="FFFFFF"/>
                    </a:solidFill>
                  </a:tcPr>
                </a:tc>
                <a:tc>
                  <a:txBody>
                    <a:bodyPr/>
                    <a:lstStyle/>
                    <a:p>
                      <a:pPr>
                        <a:defRPr sz="1050">
                          <a:solidFill>
                            <a:srgbClr val="2D3748"/>
                          </a:solidFill>
                        </a:defRPr>
                      </a:pPr>
                      <a:r>
                        <a:t>113.10 (Bi-weekly fuel gazettes)</a:t>
                      </a:r>
                    </a:p>
                  </a:txBody>
                  <a:tcPr>
                    <a:solidFill>
                      <a:srgbClr val="FFFFFF"/>
                    </a:solidFill>
                  </a:tcPr>
                </a:tc>
              </a:tr>
              <a:tr h="627017">
                <a:tc>
                  <a:txBody>
                    <a:bodyPr/>
                    <a:lstStyle/>
                    <a:p>
                      <a:pPr>
                        <a:defRPr sz="1050">
                          <a:solidFill>
                            <a:srgbClr val="1A365D"/>
                          </a:solidFill>
                        </a:defRPr>
                      </a:pPr>
                      <a:r>
                        <a:t>06</a:t>
                      </a:r>
                    </a:p>
                  </a:txBody>
                  <a:tcPr>
                    <a:solidFill>
                      <a:srgbClr val="F7FAFC"/>
                    </a:solidFill>
                  </a:tcPr>
                </a:tc>
                <a:tc>
                  <a:txBody>
                    <a:bodyPr/>
                    <a:lstStyle/>
                    <a:p>
                      <a:pPr>
                        <a:defRPr sz="1050">
                          <a:solidFill>
                            <a:srgbClr val="2D3748"/>
                          </a:solidFill>
                        </a:defRPr>
                      </a:pPr>
                      <a:r>
                        <a:t>Health (Pharmaceuticals &amp; Medical Services)</a:t>
                      </a:r>
                    </a:p>
                  </a:txBody>
                  <a:tcPr>
                    <a:solidFill>
                      <a:srgbClr val="F7FAFC"/>
                    </a:solidFill>
                  </a:tcPr>
                </a:tc>
                <a:tc>
                  <a:txBody>
                    <a:bodyPr/>
                    <a:lstStyle/>
                    <a:p>
                      <a:pPr>
                        <a:defRPr sz="1050" b="1">
                          <a:solidFill>
                            <a:srgbClr val="1A365D"/>
                          </a:solidFill>
                        </a:defRPr>
                      </a:pPr>
                      <a:r>
                        <a:t>5.141%</a:t>
                      </a:r>
                    </a:p>
                  </a:txBody>
                  <a:tcPr>
                    <a:solidFill>
                      <a:srgbClr val="F7FAFC"/>
                    </a:solidFill>
                  </a:tcPr>
                </a:tc>
                <a:tc>
                  <a:txBody>
                    <a:bodyPr/>
                    <a:lstStyle/>
                    <a:p>
                      <a:pPr>
                        <a:defRPr sz="1050">
                          <a:solidFill>
                            <a:srgbClr val="2D3748"/>
                          </a:solidFill>
                        </a:defRPr>
                      </a:pPr>
                      <a:r>
                        <a:t>100.97 (Stable OTC retail pricing)</a:t>
                      </a:r>
                    </a:p>
                  </a:txBody>
                  <a:tcPr>
                    <a:solidFill>
                      <a:srgbClr val="F7FAFC"/>
                    </a:solidFill>
                  </a:tcPr>
                </a:tc>
              </a:tr>
              <a:tr h="627017">
                <a:tc>
                  <a:txBody>
                    <a:bodyPr/>
                    <a:lstStyle/>
                    <a:p>
                      <a:pPr>
                        <a:defRPr sz="1050">
                          <a:solidFill>
                            <a:srgbClr val="1A365D"/>
                          </a:solidFill>
                        </a:defRPr>
                      </a:pPr>
                      <a:r>
                        <a:t>11</a:t>
                      </a:r>
                    </a:p>
                  </a:txBody>
                  <a:tcPr>
                    <a:solidFill>
                      <a:srgbClr val="FFFFFF"/>
                    </a:solidFill>
                  </a:tcPr>
                </a:tc>
                <a:tc>
                  <a:txBody>
                    <a:bodyPr/>
                    <a:lstStyle/>
                    <a:p>
                      <a:pPr>
                        <a:defRPr sz="1050">
                          <a:solidFill>
                            <a:srgbClr val="2D3748"/>
                          </a:solidFill>
                        </a:defRPr>
                      </a:pPr>
                      <a:r>
                        <a:t>Restaurants and Hotels (Food courts, Catering)</a:t>
                      </a:r>
                    </a:p>
                  </a:txBody>
                  <a:tcPr>
                    <a:solidFill>
                      <a:srgbClr val="FFFFFF"/>
                    </a:solidFill>
                  </a:tcPr>
                </a:tc>
                <a:tc>
                  <a:txBody>
                    <a:bodyPr/>
                    <a:lstStyle/>
                    <a:p>
                      <a:pPr>
                        <a:defRPr sz="1050" b="1">
                          <a:solidFill>
                            <a:srgbClr val="1A365D"/>
                          </a:solidFill>
                        </a:defRPr>
                      </a:pPr>
                      <a:r>
                        <a:t>5.861%</a:t>
                      </a:r>
                    </a:p>
                  </a:txBody>
                  <a:tcPr>
                    <a:solidFill>
                      <a:srgbClr val="FFFFFF"/>
                    </a:solidFill>
                  </a:tcPr>
                </a:tc>
                <a:tc>
                  <a:txBody>
                    <a:bodyPr/>
                    <a:lstStyle/>
                    <a:p>
                      <a:pPr>
                        <a:defRPr sz="1050">
                          <a:solidFill>
                            <a:srgbClr val="2D3748"/>
                          </a:solidFill>
                        </a:defRPr>
                      </a:pPr>
                      <a:r>
                        <a:t>100.25 (Agricultural pass-through)</a:t>
                      </a:r>
                    </a:p>
                  </a:txBody>
                  <a:tcPr>
                    <a:solidFill>
                      <a:srgbClr val="FFFFFF"/>
                    </a:solidFill>
                  </a:tcPr>
                </a:tc>
              </a:tr>
              <a:tr h="627018">
                <a:tc>
                  <a:txBody>
                    <a:bodyPr/>
                    <a:lstStyle/>
                    <a:p>
                      <a:pPr>
                        <a:defRPr sz="1050">
                          <a:solidFill>
                            <a:srgbClr val="1A365D"/>
                          </a:solidFill>
                        </a:defRPr>
                      </a:pPr>
                      <a:r>
                        <a:t>02-03,05,08-10,12</a:t>
                      </a:r>
                    </a:p>
                  </a:txBody>
                  <a:tcPr>
                    <a:solidFill>
                      <a:srgbClr val="F7FAFC"/>
                    </a:solidFill>
                  </a:tcPr>
                </a:tc>
                <a:tc>
                  <a:txBody>
                    <a:bodyPr/>
                    <a:lstStyle/>
                    <a:p>
                      <a:pPr>
                        <a:defRPr sz="1050">
                          <a:solidFill>
                            <a:srgbClr val="2D3748"/>
                          </a:solidFill>
                        </a:defRPr>
                      </a:pPr>
                      <a:r>
                        <a:t>All Remaining Core Divisions (Clothing, Furnishing, Telecom, etc.)</a:t>
                      </a:r>
                    </a:p>
                  </a:txBody>
                  <a:tcPr>
                    <a:solidFill>
                      <a:srgbClr val="F7FAFC"/>
                    </a:solidFill>
                  </a:tcPr>
                </a:tc>
                <a:tc>
                  <a:txBody>
                    <a:bodyPr/>
                    <a:lstStyle/>
                    <a:p>
                      <a:pPr>
                        <a:defRPr sz="1050" b="1">
                          <a:solidFill>
                            <a:srgbClr val="1A365D"/>
                          </a:solidFill>
                        </a:defRPr>
                      </a:pPr>
                      <a:r>
                        <a:t>14.911%</a:t>
                      </a:r>
                    </a:p>
                  </a:txBody>
                  <a:tcPr>
                    <a:solidFill>
                      <a:srgbClr val="F7FAFC"/>
                    </a:solidFill>
                  </a:tcPr>
                </a:tc>
                <a:tc>
                  <a:txBody>
                    <a:bodyPr/>
                    <a:lstStyle/>
                    <a:p>
                      <a:pPr>
                        <a:defRPr sz="1050">
                          <a:solidFill>
                            <a:srgbClr val="2D3748"/>
                          </a:solidFill>
                        </a:defRPr>
                      </a:pPr>
                      <a:r>
                        <a:t>99.85 - 100.15 (Nominal stickiness)</a:t>
                      </a:r>
                    </a:p>
                  </a:txBody>
                  <a:tcPr>
                    <a:solidFill>
                      <a:srgbClr val="F7FAF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Pillar 5: Real-Time Data Health &amp; Quality Telemetry</a:t>
            </a:r>
          </a:p>
          <a:p>
            <a:pPr>
              <a:spcBef>
                <a:spcPts val="400"/>
              </a:spcBef>
              <a:defRPr sz="1300">
                <a:solidFill>
                  <a:srgbClr val="3182CE"/>
                </a:solidFill>
              </a:defRPr>
            </a:pPr>
            <a:r>
              <a:t>Automated diagnostics persisted daily in gold.fct_cpi_daily</a:t>
            </a:r>
          </a:p>
        </p:txBody>
      </p:sp>
      <p:sp>
        <p:nvSpPr>
          <p:cNvPr id="3" name="Rounded Rectangle 2"/>
          <p:cNvSpPr/>
          <p:nvPr/>
        </p:nvSpPr>
        <p:spPr>
          <a:xfrm>
            <a:off x="731520" y="1645920"/>
            <a:ext cx="5242255" cy="2103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100" b="1">
                <a:solidFill>
                  <a:srgbClr val="3182CE"/>
                </a:solidFill>
              </a:defRPr>
            </a:pPr>
            <a:r>
              <a:t>BASKET COVERAGE WEIGHT</a:t>
            </a:r>
          </a:p>
          <a:p>
            <a:pPr>
              <a:spcBef>
                <a:spcPts val="200"/>
              </a:spcBef>
              <a:defRPr b="1" sz="2800">
                <a:solidFill>
                  <a:srgbClr val="1A365D"/>
                </a:solidFill>
              </a:defRPr>
            </a:pPr>
            <a:r>
              <a:t>98.83%</a:t>
            </a:r>
          </a:p>
          <a:p>
            <a:pPr>
              <a:spcBef>
                <a:spcPts val="400"/>
              </a:spcBef>
              <a:defRPr sz="1000">
                <a:solidFill>
                  <a:srgbClr val="2D3748"/>
                </a:solidFill>
              </a:defRPr>
            </a:pPr>
            <a:r>
              <a:t>98.826% of national consumption basket weight actively covered. Only tertiary tuition (Div 10) relies on discrete administrative updates.</a:t>
            </a:r>
          </a:p>
        </p:txBody>
      </p:sp>
      <p:sp>
        <p:nvSpPr>
          <p:cNvPr id="4" name="Rounded Rectangle 3"/>
          <p:cNvSpPr/>
          <p:nvPr/>
        </p:nvSpPr>
        <p:spPr>
          <a:xfrm>
            <a:off x="6217920" y="1645920"/>
            <a:ext cx="5242255" cy="2103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100" b="1">
                <a:solidFill>
                  <a:srgbClr val="3182CE"/>
                </a:solidFill>
              </a:defRPr>
            </a:pPr>
            <a:r>
              <a:t>DAILY IMPUTATION RATE</a:t>
            </a:r>
          </a:p>
          <a:p>
            <a:pPr>
              <a:spcBef>
                <a:spcPts val="200"/>
              </a:spcBef>
              <a:defRPr b="1" sz="2800">
                <a:solidFill>
                  <a:srgbClr val="1A365D"/>
                </a:solidFill>
              </a:defRPr>
            </a:pPr>
            <a:r>
              <a:t>6.02%</a:t>
            </a:r>
          </a:p>
          <a:p>
            <a:pPr>
              <a:spcBef>
                <a:spcPts val="400"/>
              </a:spcBef>
              <a:defRPr sz="1000">
                <a:solidFill>
                  <a:srgbClr val="2D3748"/>
                </a:solidFill>
              </a:defRPr>
            </a:pPr>
            <a:r>
              <a:t>Averages 6.02% (range 5.95% - 8.40%), well below the 10.0% international maximum threshold. 93.98% live price quotes.</a:t>
            </a:r>
          </a:p>
        </p:txBody>
      </p:sp>
      <p:sp>
        <p:nvSpPr>
          <p:cNvPr id="5" name="Rounded Rectangle 4"/>
          <p:cNvSpPr/>
          <p:nvPr/>
        </p:nvSpPr>
        <p:spPr>
          <a:xfrm>
            <a:off x="731520" y="3931920"/>
            <a:ext cx="5242255" cy="2103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100" b="1">
                <a:solidFill>
                  <a:srgbClr val="3182CE"/>
                </a:solidFill>
              </a:defRPr>
            </a:pPr>
            <a:r>
              <a:t>DAILY ACTIVE MONITORED ITEMS</a:t>
            </a:r>
          </a:p>
          <a:p>
            <a:pPr>
              <a:spcBef>
                <a:spcPts val="200"/>
              </a:spcBef>
              <a:defRPr b="1" sz="2800">
                <a:solidFill>
                  <a:srgbClr val="1A365D"/>
                </a:solidFill>
              </a:defRPr>
            </a:pPr>
            <a:r>
              <a:t>15,868+</a:t>
            </a:r>
          </a:p>
          <a:p>
            <a:pPr>
              <a:spcBef>
                <a:spcPts val="400"/>
              </a:spcBef>
              <a:defRPr sz="1000">
                <a:solidFill>
                  <a:srgbClr val="2D3748"/>
                </a:solidFill>
              </a:defRPr>
            </a:pPr>
            <a:r>
              <a:t>Over 15,800 canonical products with 16,600+ observation-level price quotes harvested every single morning.</a:t>
            </a:r>
          </a:p>
        </p:txBody>
      </p:sp>
      <p:sp>
        <p:nvSpPr>
          <p:cNvPr id="6" name="Rounded Rectangle 5"/>
          <p:cNvSpPr/>
          <p:nvPr/>
        </p:nvSpPr>
        <p:spPr>
          <a:xfrm>
            <a:off x="6217920" y="3931920"/>
            <a:ext cx="5242255" cy="2103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100" b="1">
                <a:solidFill>
                  <a:srgbClr val="3182CE"/>
                </a:solidFill>
              </a:defRPr>
            </a:pPr>
            <a:r>
              <a:t>REPRESENTED COICOP DIVISIONS</a:t>
            </a:r>
          </a:p>
          <a:p>
            <a:pPr>
              <a:spcBef>
                <a:spcPts val="200"/>
              </a:spcBef>
              <a:defRPr b="1" sz="2800">
                <a:solidFill>
                  <a:srgbClr val="1A365D"/>
                </a:solidFill>
              </a:defRPr>
            </a:pPr>
            <a:r>
              <a:t>12 / 12</a:t>
            </a:r>
          </a:p>
          <a:p>
            <a:pPr>
              <a:spcBef>
                <a:spcPts val="400"/>
              </a:spcBef>
              <a:defRPr sz="1000">
                <a:solidFill>
                  <a:srgbClr val="2D3748"/>
                </a:solidFill>
              </a:defRPr>
            </a:pPr>
            <a:r>
              <a:t>Complete coverage across all 12 United Nations COICOP divisions with zero code-division mismatches.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Real-Time Inflation Nowcasting: The Lead-Time Advantage</a:t>
            </a:r>
          </a:p>
          <a:p>
            <a:pPr>
              <a:spcBef>
                <a:spcPts val="400"/>
              </a:spcBef>
              <a:defRPr sz="1300">
                <a:solidFill>
                  <a:srgbClr val="3182CE"/>
                </a:solidFill>
              </a:defRPr>
            </a:pPr>
            <a:r>
              <a:t>Predicting official monthly NIS inflation weeks ahead of retrospective publication</a:t>
            </a:r>
          </a:p>
        </p:txBody>
      </p:sp>
      <p:sp>
        <p:nvSpPr>
          <p:cNvPr id="3" name="Rounded Rectangle 2"/>
          <p:cNvSpPr/>
          <p:nvPr/>
        </p:nvSpPr>
        <p:spPr>
          <a:xfrm>
            <a:off x="731520" y="1645920"/>
            <a:ext cx="5486400" cy="960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defRPr b="1" sz="1200">
                <a:solidFill>
                  <a:srgbClr val="1A365D"/>
                </a:solidFill>
              </a:defRPr>
            </a:pPr>
            <a:r>
              <a:t>Day 05: Early Signal</a:t>
            </a:r>
          </a:p>
          <a:p>
            <a:pPr>
              <a:spcBef>
                <a:spcPts val="200"/>
              </a:spcBef>
              <a:defRPr sz="1000">
                <a:solidFill>
                  <a:srgbClr val="2D3748"/>
                </a:solidFill>
              </a:defRPr>
            </a:pPr>
            <a:r>
              <a:t>Macro priors + 5-day realized prices. Initial directional assessment.</a:t>
            </a:r>
          </a:p>
        </p:txBody>
      </p:sp>
      <p:sp>
        <p:nvSpPr>
          <p:cNvPr id="4" name="Rounded Rectangle 3"/>
          <p:cNvSpPr/>
          <p:nvPr/>
        </p:nvSpPr>
        <p:spPr>
          <a:xfrm>
            <a:off x="731520" y="2697480"/>
            <a:ext cx="5486400" cy="960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defRPr b="1" sz="1200">
                <a:solidFill>
                  <a:srgbClr val="1A365D"/>
                </a:solidFill>
              </a:defRPr>
            </a:pPr>
            <a:r>
              <a:t>Day 15: Mid-Month Checkpoint</a:t>
            </a:r>
          </a:p>
          <a:p>
            <a:pPr>
              <a:spcBef>
                <a:spcPts val="200"/>
              </a:spcBef>
              <a:defRPr sz="1000">
                <a:solidFill>
                  <a:srgbClr val="2D3748"/>
                </a:solidFill>
              </a:defRPr>
            </a:pPr>
            <a:r>
              <a:t>50% basket realized. Out-of-sample RMSE drops to 0.098 (83.1% error reduction over AR(1)).</a:t>
            </a:r>
          </a:p>
        </p:txBody>
      </p:sp>
      <p:sp>
        <p:nvSpPr>
          <p:cNvPr id="5" name="Rounded Rectangle 4"/>
          <p:cNvSpPr/>
          <p:nvPr/>
        </p:nvSpPr>
        <p:spPr>
          <a:xfrm>
            <a:off x="731520" y="3749039"/>
            <a:ext cx="5486400" cy="960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defRPr b="1" sz="1200">
                <a:solidFill>
                  <a:srgbClr val="1A365D"/>
                </a:solidFill>
              </a:defRPr>
            </a:pPr>
            <a:r>
              <a:t>Day 20: High Conviction</a:t>
            </a:r>
          </a:p>
          <a:p>
            <a:pPr>
              <a:spcBef>
                <a:spcPts val="200"/>
              </a:spcBef>
              <a:defRPr sz="1000">
                <a:solidFill>
                  <a:srgbClr val="2D3748"/>
                </a:solidFill>
              </a:defRPr>
            </a:pPr>
            <a:r>
              <a:t>Captures agricultural wholesale cycles and bi-weekly fuel gazette revisions. RMSE = 0.052.</a:t>
            </a:r>
          </a:p>
        </p:txBody>
      </p:sp>
      <p:sp>
        <p:nvSpPr>
          <p:cNvPr id="6" name="Rounded Rectangle 5"/>
          <p:cNvSpPr/>
          <p:nvPr/>
        </p:nvSpPr>
        <p:spPr>
          <a:xfrm>
            <a:off x="731520" y="4800600"/>
            <a:ext cx="5486400" cy="960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defRPr b="1" sz="1200">
                <a:solidFill>
                  <a:srgbClr val="1A365D"/>
                </a:solidFill>
              </a:defRPr>
            </a:pPr>
            <a:r>
              <a:t>Day 30: Finalized Flash</a:t>
            </a:r>
          </a:p>
          <a:p>
            <a:pPr>
              <a:spcBef>
                <a:spcPts val="200"/>
              </a:spcBef>
              <a:defRPr sz="1000">
                <a:solidFill>
                  <a:srgbClr val="2D3748"/>
                </a:solidFill>
              </a:defRPr>
            </a:pPr>
            <a:r>
              <a:t>100% daily price quotes realized. Final flash estimate delivers 25-45 day lead time before NIS release.</a:t>
            </a:r>
          </a:p>
        </p:txBody>
      </p:sp>
      <p:sp>
        <p:nvSpPr>
          <p:cNvPr id="7" name="Rounded Rectangle 6"/>
          <p:cNvSpPr/>
          <p:nvPr/>
        </p:nvSpPr>
        <p:spPr>
          <a:xfrm>
            <a:off x="6492240" y="1645920"/>
            <a:ext cx="4967935" cy="4389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400">
                <a:solidFill>
                  <a:srgbClr val="319795"/>
                </a:solidFill>
              </a:defRPr>
            </a:pPr>
            <a:r>
              <a:t>Two-Stage Regularized RidgeCV Model</a:t>
            </a:r>
          </a:p>
          <a:p>
            <a:pPr>
              <a:spcBef>
                <a:spcPts val="1000"/>
              </a:spcBef>
              <a:defRPr sz="1050">
                <a:solidFill>
                  <a:srgbClr val="2D3748"/>
                </a:solidFill>
              </a:defRPr>
            </a:pPr>
            <a:r>
              <a:t>• 9-Dimensional Indicator Vectors: Multi-basket daily momentum, USD/KHR exchange rate log returns, and Khmer festival calendar markers.</a:t>
            </a:r>
          </a:p>
          <a:p>
            <a:pPr>
              <a:spcBef>
                <a:spcPts val="1000"/>
              </a:spcBef>
              <a:defRPr sz="1050">
                <a:solidFill>
                  <a:srgbClr val="2D3748"/>
                </a:solidFill>
              </a:defRPr>
            </a:pPr>
            <a:r>
              <a:t>• Dynamic Uncertainty Decay: Analytical 95% confidence envelope collapses as the month progresses: U_t = sqrt((T-t)/T).</a:t>
            </a:r>
          </a:p>
          <a:p>
            <a:pPr>
              <a:spcBef>
                <a:spcPts val="1000"/>
              </a:spcBef>
              <a:defRPr sz="1050">
                <a:solidFill>
                  <a:srgbClr val="2D3748"/>
                </a:solidFill>
              </a:defRPr>
            </a:pPr>
            <a:r>
              <a:t>• Out-of-Sample Scorecard: Attains Relative RMSE of 0.8232 (17.68% precision gain over Atkeson-Ohanian Random Walk) with Diebold-Mariano significance (S_DM = -2.41, p = 0.016).</a:t>
            </a:r>
          </a:p>
          <a:p>
            <a:pPr>
              <a:spcBef>
                <a:spcPts val="1000"/>
              </a:spcBef>
              <a:defRPr sz="1050">
                <a:solidFill>
                  <a:srgbClr val="2D3748"/>
                </a:solidFill>
              </a:defRPr>
            </a:pPr>
            <a:r>
              <a:t>• Directional Accuracy: 96.4% directional hit rate in predicting monthly inflation acceleration or deceleration.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400" b="1">
                <a:solidFill>
                  <a:srgbClr val="1A365D"/>
                </a:solidFill>
              </a:defRPr>
            </a:pPr>
            <a:r>
              <a:t>Contributions, Policy Utility &amp; Future Roadmap</a:t>
            </a:r>
          </a:p>
          <a:p>
            <a:pPr>
              <a:spcBef>
                <a:spcPts val="400"/>
              </a:spcBef>
              <a:defRPr sz="1300">
                <a:solidFill>
                  <a:srgbClr val="3182CE"/>
                </a:solidFill>
              </a:defRPr>
            </a:pPr>
            <a:r>
              <a:t>Transforming economic statistics in the Kingdom of Cambodia</a:t>
            </a:r>
          </a:p>
        </p:txBody>
      </p:sp>
      <p:sp>
        <p:nvSpPr>
          <p:cNvPr id="3" name="Rounded Rectangle 2"/>
          <p:cNvSpPr/>
          <p:nvPr/>
        </p:nvSpPr>
        <p:spPr>
          <a:xfrm>
            <a:off x="731520" y="1645920"/>
            <a:ext cx="5120640" cy="4389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400">
                <a:solidFill>
                  <a:srgbClr val="1A365D"/>
                </a:solidFill>
              </a:defRPr>
            </a:pPr>
            <a:r>
              <a:t>Core Academic &amp; Technical Contributions</a:t>
            </a:r>
          </a:p>
          <a:p>
            <a:pPr>
              <a:spcBef>
                <a:spcPts val="1000"/>
              </a:spcBef>
              <a:defRPr sz="1050">
                <a:solidFill>
                  <a:srgbClr val="2D3748"/>
                </a:solidFill>
              </a:defRPr>
            </a:pPr>
            <a:r>
              <a:t>• First Autonomous Daily CPI Engine for Cambodia: Fully automated ingestion, entity matching, and index calculation across 30+ daily data sources.</a:t>
            </a:r>
          </a:p>
          <a:p>
            <a:pPr>
              <a:spcBef>
                <a:spcPts val="1000"/>
              </a:spcBef>
              <a:defRPr sz="1050">
                <a:solidFill>
                  <a:srgbClr val="2D3748"/>
                </a:solidFill>
              </a:defRPr>
            </a:pPr>
            <a:r>
              <a:t>• Axiomatically Defensible Architecture: Implementation of Two-Stage Store-Balanced Jevons eliminates catalog-size bias (+0.52 point correction).</a:t>
            </a:r>
          </a:p>
          <a:p>
            <a:pPr>
              <a:spcBef>
                <a:spcPts val="1000"/>
              </a:spcBef>
              <a:defRPr sz="1050">
                <a:solidFill>
                  <a:srgbClr val="2D3748"/>
                </a:solidFill>
              </a:defRPr>
            </a:pPr>
            <a:r>
              <a:t>• 5-Digit Subclass Granularity: Full integration of CEIC/NIS Phnom Penh weights across Rice grades, fuels, and livestock.</a:t>
            </a:r>
          </a:p>
          <a:p>
            <a:pPr>
              <a:spcBef>
                <a:spcPts val="1000"/>
              </a:spcBef>
              <a:defRPr sz="1050">
                <a:solidFill>
                  <a:srgbClr val="2D3748"/>
                </a:solidFill>
              </a:defRPr>
            </a:pPr>
            <a:r>
              <a:t>• Production Observability: 3 consolidated Metabase dashboards, permanent replacement audit logs, and automated Airflow orchestration.</a:t>
            </a:r>
          </a:p>
        </p:txBody>
      </p:sp>
      <p:sp>
        <p:nvSpPr>
          <p:cNvPr id="4" name="Rounded Rectangle 3"/>
          <p:cNvSpPr/>
          <p:nvPr/>
        </p:nvSpPr>
        <p:spPr>
          <a:xfrm>
            <a:off x="6217920" y="1645920"/>
            <a:ext cx="5242255" cy="43891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400">
                <a:solidFill>
                  <a:srgbClr val="319795"/>
                </a:solidFill>
              </a:defRPr>
            </a:pPr>
            <a:r>
              <a:t>Institutional Policy Utility &amp; Future Work</a:t>
            </a:r>
          </a:p>
          <a:p>
            <a:pPr>
              <a:spcBef>
                <a:spcPts val="1000"/>
              </a:spcBef>
              <a:defRPr sz="1050">
                <a:solidFill>
                  <a:srgbClr val="2D3748"/>
                </a:solidFill>
              </a:defRPr>
            </a:pPr>
            <a:r>
              <a:t>• National Bank of Cambodia (NBC): Early warning on monetary liquidity, FX intervention bands, and imported inflation pass-through.</a:t>
            </a:r>
          </a:p>
          <a:p>
            <a:pPr>
              <a:spcBef>
                <a:spcPts val="1000"/>
              </a:spcBef>
              <a:defRPr sz="1050">
                <a:solidFill>
                  <a:srgbClr val="2D3748"/>
                </a:solidFill>
              </a:defRPr>
            </a:pPr>
            <a:r>
              <a:t>• Ministry of Economy &amp; Finance (MEF): High-frequency evidence for fuel subsidy monitoring and vulnerable household cash transfers.</a:t>
            </a:r>
          </a:p>
          <a:p>
            <a:pPr>
              <a:spcBef>
                <a:spcPts val="1000"/>
              </a:spcBef>
              <a:defRPr sz="1050">
                <a:solidFill>
                  <a:srgbClr val="2D3748"/>
                </a:solidFill>
              </a:defRPr>
            </a:pPr>
            <a:r>
              <a:t>• National Institute of Statistics (NIS): Complements monthly surveys with high-density scanner cross-checks.</a:t>
            </a:r>
          </a:p>
          <a:p>
            <a:pPr>
              <a:spcBef>
                <a:spcPts val="1000"/>
              </a:spcBef>
              <a:defRPr sz="1050">
                <a:solidFill>
                  <a:srgbClr val="2D3748"/>
                </a:solidFill>
              </a:defRPr>
            </a:pPr>
            <a:r>
              <a:t>• Future Roadmap: Expanding into POS barcode partnerships with major retailers and multilateral rolling GEKS index formulations for high-churn apparel.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