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(How to address Velocity &amp; Stationarity):</a:t>
            </a:r>
          </a:p>
          <a:p>
            <a:r>
              <a:t>• For General/Executive Audience: Explain that we model the daily velocity (rate of change) of prices rather than raw price tags, which gives an early warning signal of price momentum.</a:t>
            </a:r>
          </a:p>
          <a:p>
            <a:r>
              <a:t>• For Economists/Central Bankers: State that raw price indices have unit roots (I(1)). Direct regression causes spurious correlation (Granger &amp; Newbold 1974). We transform series into stationary log-returns (Δ ln P_t) to satisfy Gauss-Markov conditions and stabilize variance.</a:t>
            </a:r>
          </a:p>
          <a:p>
            <a:r>
              <a:t>• Explain that RidgeCV with Leave-One-Out Cross-Validation handles collinearity across lags, while Empirical Bayes shrinkage guards against small-sample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High-Frequency CPI Inflation Nowcasting for Cambodia</a:t>
            </a:r>
          </a:p>
          <a:p>
            <a:pPr>
              <a:spcBef>
                <a:spcPts val="1000"/>
              </a:spcBef>
              <a:defRPr sz="1600">
                <a:solidFill>
                  <a:srgbClr val="BEE3F8"/>
                </a:solidFill>
              </a:defRPr>
            </a:pPr>
            <a:r>
              <a:t>Two-Tier Hybrid Econometric Engine: Daily Web Scraping, RidgeCV Regularization &amp; CSES 2023 Laspeyres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3291840" cy="2011680"/>
          </a:xfrm>
          <a:prstGeom prst="roundRect">
            <a:avLst/>
          </a:prstGeom>
          <a:solidFill>
            <a:srgbClr val="2C5282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High-Frequency Sensing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Eliminating the official 25-45 day statistical reporting lag with daily retail price microdata.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840480"/>
            <a:ext cx="3291840" cy="2011680"/>
          </a:xfrm>
          <a:prstGeom prst="roundRect">
            <a:avLst/>
          </a:prstGeom>
          <a:solidFill>
            <a:srgbClr val="2C5282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🎯 5-Basket RidgeCV Engine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Capturing 81.58% of CSES consumption with cross-sector fuel and FX pass-through.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840480"/>
            <a:ext cx="3291840" cy="2011680"/>
          </a:xfrm>
          <a:prstGeom prst="roundRect">
            <a:avLst/>
          </a:prstGeom>
          <a:solidFill>
            <a:srgbClr val="2C5282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🏆 Benchmark Beating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17.68% precision gain over the Atkeson-Ohanian (2001) Random Walk; live error +0.0181 pp.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1. Introduction: What is Nowcasting?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From Multi-Week Reporting Lags to Real-Time Economic Measurement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Conceptual Framework: Nowcasting vs. Forecasting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Nowcasting (Present-Casting): </a:t>
            </a:r>
            <a:r>
              <a:rPr b="0">
                <a:solidFill>
                  <a:srgbClr val="2D3748"/>
                </a:solidFill>
              </a:rPr>
              <a:t>The real-time prediction of current-period economic conditions *before* official statistics are released.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Contrast with Forecasting: </a:t>
            </a:r>
            <a:r>
              <a:rPr b="0">
                <a:solidFill>
                  <a:srgbClr val="2D3748"/>
                </a:solidFill>
              </a:rPr>
              <a:t>Traditional forecasting projects months or quarters into an unknown future. Nowcasting solves the *information latency problem* of the immediate present.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Theoretical Roots: </a:t>
            </a:r>
            <a:r>
              <a:rPr b="0">
                <a:solidFill>
                  <a:srgbClr val="2D3748"/>
                </a:solidFill>
              </a:rPr>
              <a:t>Founded on Cavallo &amp; Rigobon (2016) - MIT Billion Prices Project, and Macias et al. (2023) at the National Bank of Poland.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The Information Frontier: </a:t>
            </a:r>
            <a:r>
              <a:rPr b="0">
                <a:solidFill>
                  <a:srgbClr val="2D3748"/>
                </a:solidFill>
              </a:rPr>
              <a:t>On day d of month M, the model blends observed high-frequency facts with regularized forward momentum, achieving zero uncertainty at month-end.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The Cambodian Policy Problem: The 25-to-45-Day Blind Spot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The Official Statistical Lag: </a:t>
            </a:r>
            <a:r>
              <a:rPr b="0">
                <a:solidFill>
                  <a:srgbClr val="2D3748"/>
                </a:solidFill>
              </a:rPr>
              <a:t>The National Institute of Statistics (NIS) releases monthly CPI bulletins 25 to 45 days after month-end.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Policy Blind Spot: </a:t>
            </a:r>
            <a:r>
              <a:rPr b="0">
                <a:solidFill>
                  <a:srgbClr val="2D3748"/>
                </a:solidFill>
              </a:rPr>
              <a:t>When global crude oil spikes or floods hit Mekong rice paddies, policymakers at the National Bank of Cambodia (NBC) have zero empirical price data for up to 6 weeks.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Alternative Data Solution: </a:t>
            </a:r>
            <a:r>
              <a:rPr b="0">
                <a:solidFill>
                  <a:srgbClr val="2D3748"/>
                </a:solidFill>
              </a:rPr>
              <a:t>Our daily scraper continuously harvests 10,000+ retail quotes across 30+ supermarkets, local wet markets, and official utility gazettes.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Axiomatic Aggregation: </a:t>
            </a:r>
            <a:r>
              <a:rPr b="0">
                <a:solidFill>
                  <a:srgbClr val="2D3748"/>
                </a:solidFill>
              </a:rPr>
              <a:t>Micro-quotes are conformed daily into UN COICOP 2018 divisions using exact Jevons geometric indices, providing daily macro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2. Strategic Targets: What are We Nowcasting?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Precision Macroeconomic Indicators for Central Banking &amp; Policy Planning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📈 Target 1: Headline MoM Inflation (π_MoM)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</a:defRPr>
            </a:pPr>
            <a:r>
              <a:t>Month-over-month percentage change in national consumer prices across all 12 COICOP divisions weighted by official CSES 2023 expenditure shares.</a:t>
            </a:r>
          </a:p>
          <a:p>
            <a:pPr>
              <a:spcBef>
                <a:spcPts val="500"/>
              </a:spcBef>
              <a:defRPr sz="1050" i="1">
                <a:solidFill>
                  <a:srgbClr val="319795"/>
                </a:solidFill>
              </a:defRPr>
            </a:pPr>
            <a:r>
              <a:t>Policy Value: Gold Standard for immediate monetary policy response and inflation momentum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🎯 Target 2: Refined Core CPI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</a:defRPr>
            </a:pPr>
            <a:r>
              <a:t>Excludes volatile Division 01 (Food: 44.78%) and regulated fuel subclasses in Division 04 &amp; 07, covering 52.20% of structural domestic demand.</a:t>
            </a:r>
          </a:p>
          <a:p>
            <a:pPr>
              <a:spcBef>
                <a:spcPts val="500"/>
              </a:spcBef>
              <a:defRPr sz="1050" i="1">
                <a:solidFill>
                  <a:srgbClr val="319795"/>
                </a:solidFill>
              </a:defRPr>
            </a:pPr>
            <a:r>
              <a:t>Policy Value: Isolates demand-pull monetary inflation from weather and geopolitical supply shocks.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🏛️ Target 3: Sovereign NIS Benchmark Index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</a:defRPr>
            </a:pPr>
            <a:r>
              <a:t>Dual-index chain-linked estimate mapped directly to the official NIS Phnom Penh scale (Oct-Dec 2006 = 100).</a:t>
            </a:r>
          </a:p>
          <a:p>
            <a:pPr>
              <a:spcBef>
                <a:spcPts val="500"/>
              </a:spcBef>
              <a:defRPr sz="1050" i="1">
                <a:solidFill>
                  <a:srgbClr val="319795"/>
                </a:solidFill>
              </a:defRPr>
            </a:pPr>
            <a:r>
              <a:t>Policy Value: Enables 1:1 ground-truth comparison against official government statistical bulletins.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🌐 Target 4: 5 Disaggregated Baskets</a:t>
            </a:r>
          </a:p>
          <a:p>
            <a:pPr>
              <a:spcBef>
                <a:spcPts val="500"/>
              </a:spcBef>
              <a:defRPr sz="1100">
                <a:solidFill>
                  <a:srgbClr val="2D3748"/>
                </a:solidFill>
              </a:defRPr>
            </a:pPr>
            <a:r>
              <a:t>Dedicated sub-nowcasts for Food (01), Alcohol (02), Utilities (04), Transport (07), and Restaurants (11).</a:t>
            </a:r>
          </a:p>
          <a:p>
            <a:pPr>
              <a:spcBef>
                <a:spcPts val="500"/>
              </a:spcBef>
              <a:defRPr sz="1050" i="1">
                <a:solidFill>
                  <a:srgbClr val="319795"/>
                </a:solidFill>
              </a:defRPr>
            </a:pPr>
            <a:r>
              <a:t>Policy Value: Identifies exact sectoral drivers of price pressure and supply-chain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3. The Two-Tier Hybrid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Separating Axiomatic Measurement from Econometric Forward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319795"/>
                </a:solidFill>
              </a:defRPr>
            </a:pPr>
            <a:r>
              <a:t>Tier 1: Realized MTD Facts (Days 1 ... d)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• Exact discrete arithmetic mean of daily Jevons elementary index values.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• Derived from millions of validated retail price quotes in gold.fct_cpi_daily.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• Contains exactly 0.00% econometric model error; represents pure empirical truth.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3182CE"/>
                </a:solidFill>
              </a:defRPr>
            </a:pPr>
            <a:r>
              <a:t>Tier 2: Disaggregated Drift Projection (Days d+1 ... D)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• Exact discrete arithmetic mean across forward exponential drift quotes.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• Estimated via RidgeCV with Leave-One-Out Cross-Validation on stationary log-returns.</a:t>
            </a:r>
          </a:p>
          <a:p>
            <a:pPr>
              <a:spcBef>
                <a:spcPts val="300"/>
              </a:spcBef>
              <a:defRPr sz="1050">
                <a:solidFill>
                  <a:srgbClr val="2D3748"/>
                </a:solidFill>
              </a:defRPr>
            </a:pPr>
            <a:r>
              <a:t>• Shrunk toward empirical structural prior to prevent small-sample overfitting.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Time-Weighted Horizon Blending &amp; Convergence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The Blending Formulation: </a:t>
            </a:r>
            <a:r>
              <a:rPr b="0">
                <a:solidFill>
                  <a:srgbClr val="2D3748"/>
                </a:solidFill>
              </a:rPr>
              <a:t>I_{k, M}(d) = (d / D) · Realized_k + ((D - d) / D) · Projected_k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Day 1 (d = 1, D = 30): </a:t>
            </a:r>
            <a:r>
              <a:rPr b="0">
                <a:solidFill>
                  <a:srgbClr val="2D3748"/>
                </a:solidFill>
              </a:rPr>
              <a:t>3.3% realized, 96.7% projected forward path. Wide initial uncertainty envelope.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Day 15 (d = 15, D = 30): </a:t>
            </a:r>
            <a:r>
              <a:rPr b="0">
                <a:solidFill>
                  <a:srgbClr val="2D3748"/>
                </a:solidFill>
              </a:rPr>
              <a:t>50.0% realized, 50.0% projected. Half of empirical monthly reality is permanently locked.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Day 30 (d = 30, D = 30): </a:t>
            </a:r>
            <a:r>
              <a:rPr b="0">
                <a:solidFill>
                  <a:srgbClr val="2D3748"/>
                </a:solidFill>
              </a:rPr>
              <a:t>100.0% realized facts, 0.0% projection. Complete deterministic convergence.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Laspeyres National Synthesis: </a:t>
            </a:r>
            <a:r>
              <a:rPr b="0">
                <a:solidFill>
                  <a:srgbClr val="2D3748"/>
                </a:solidFill>
              </a:rPr>
              <a:t>Headline CPI is compiled via CSES 2023 weights: CPI_M(d) = ∑ w_k · I_{k, M}(d).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4. 5-Basket Disaggregation &amp; Logistics Spillover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Capturing 81.58% of Cambodian Consumption with Freight &amp; FX Linkages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Division 01: Food &amp; Beverages  |  Weight: 44.775%</a:t>
            </a:r>
          </a:p>
          <a:p>
            <a:pPr>
              <a:spcBef>
                <a:spcPts val="200"/>
              </a:spcBef>
              <a:defRPr sz="1050">
                <a:solidFill>
                  <a:srgbClr val="2D3748"/>
                </a:solidFill>
              </a:defRPr>
            </a:pPr>
            <a:r>
              <a:t>Key Feature Channels: 3d/7d/14d Food momentum, USD/KHR FX, Festival proximity kernel, and **injected Transport fuel momentum**.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Division 07: Transport  |  Weight: 12.180%</a:t>
            </a:r>
          </a:p>
          <a:p>
            <a:pPr>
              <a:spcBef>
                <a:spcPts val="200"/>
              </a:spcBef>
              <a:defRPr sz="1050">
                <a:solidFill>
                  <a:srgbClr val="2D3748"/>
                </a:solidFill>
              </a:defRPr>
            </a:pPr>
            <a:r>
              <a:t>Key Feature Channels: 3d/7d Fuel momentum, International Brent/WTI pass-through, and holiday travel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Division 04: Housing &amp; Utilities  |  Weight: 17.084%</a:t>
            </a:r>
          </a:p>
          <a:p>
            <a:pPr>
              <a:spcBef>
                <a:spcPts val="200"/>
              </a:spcBef>
              <a:defRPr sz="1050">
                <a:solidFill>
                  <a:srgbClr val="2D3748"/>
                </a:solidFill>
              </a:defRPr>
            </a:pPr>
            <a:r>
              <a:t>Key Feature Channels: 7d/14d Utility momentum, electricity tariff inertia, and 14d FX exchange rate return.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Division 11: Restaurants &amp; Hotels  |  Weight: 3.085%</a:t>
            </a:r>
          </a:p>
          <a:p>
            <a:pPr>
              <a:spcBef>
                <a:spcPts val="200"/>
              </a:spcBef>
              <a:defRPr sz="1050">
                <a:solidFill>
                  <a:srgbClr val="2D3748"/>
                </a:solidFill>
              </a:defRPr>
            </a:pPr>
            <a:r>
              <a:t>Key Feature Channels: 7d Restaurant momentum, **injected raw Food costs (01)**, and **logistics transit freight (07)**.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Division 02: Alcohol &amp; Tobacco  |  Weight: 1.625%</a:t>
            </a:r>
          </a:p>
          <a:p>
            <a:pPr>
              <a:spcBef>
                <a:spcPts val="200"/>
              </a:spcBef>
              <a:defRPr sz="1050">
                <a:solidFill>
                  <a:srgbClr val="2D3748"/>
                </a:solidFill>
              </a:defRPr>
            </a:pPr>
            <a:r>
              <a:t>Key Feature Channels: 7d momentum, import FX pass-through, and holiday celebration windows.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309360"/>
            <a:ext cx="1072865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000" b="1">
                <a:solidFill>
                  <a:srgbClr val="319795"/>
                </a:solidFill>
              </a:defRPr>
            </a:pPr>
            <a:r>
              <a:t>💡 Cross-Sector Logistics Injection: Diesel fuel price adjustments by the Ministry of Commerce directly impact wholesale food logistics and restaurant preparation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5. Feature Engineering &amp; Regularized Ridge Estimation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Stationary Log-Returns, RidgeCV LOOCV, and Empirical Bayes Shrinkage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Daily Price Velocity &amp; Stationary Log Space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Why Velocity, Not Price Tags? </a:t>
            </a:r>
            <a:r>
              <a:rPr b="0">
                <a:solidFill>
                  <a:srgbClr val="2D3748"/>
                </a:solidFill>
              </a:rPr>
              <a:t>Raw price indices drift upward over time (non-stationary unit root I(1)). Running regressions directly on raw price levels creates spurious correlation (inflated R^2 with meaningless predictive value).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Stationary Log-Returns (Δ ln P_t): </a:t>
            </a:r>
            <a:r>
              <a:rPr b="0">
                <a:solidFill>
                  <a:srgbClr val="2D3748"/>
                </a:solidFill>
              </a:rPr>
              <a:t>Transforming daily prices into continuous log differences Δ ln P_t = ln(P_t / P_{t-k}) isolates genuine daily momentum, stabilizes variance, guarantees time-reversal symmetry, and satisfies Gauss-Markov conditions.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9-Dimensional Feature Vector: </a:t>
            </a:r>
            <a:r>
              <a:rPr b="0">
                <a:solidFill>
                  <a:srgbClr val="2D3748"/>
                </a:solidFill>
              </a:rPr>
              <a:t>Combines 3d, 7d, 14d sectoral price velocities, USD/KHR exchange rate return, intra-month progress ratio (d/D), unobserved calendar decay ((D-d)/D), and weekend repricing dummies.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RidgeCV LOOCV &amp; Prior Shrinkage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Multicollinearity Solution: </a:t>
            </a:r>
            <a:r>
              <a:rPr b="0">
                <a:solidFill>
                  <a:srgbClr val="2D3748"/>
                </a:solidFill>
              </a:rPr>
              <a:t>Standard OLS suffers from ill-conditioned Gram matrices (κ(X^T X) &gt;&gt; 10^3) due to correlated lags. L2 Tikhonov regularization stabilizes estimation and guarantees numerical robustness.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Autonomous Penalty Grid: </a:t>
            </a:r>
            <a:r>
              <a:rPr b="0">
                <a:solidFill>
                  <a:srgbClr val="2D3748"/>
                </a:solidFill>
              </a:rPr>
              <a:t>RidgeCV evaluates alphas in [0.01, 1000.0] autonomously using closed-form Leave-One-Out Cross-Validation (LOOCV).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Empirical Bayes Shrinkage: </a:t>
            </a:r>
            <a:r>
              <a:rPr b="0">
                <a:solidFill>
                  <a:srgbClr val="2D3748"/>
                </a:solidFill>
              </a:rPr>
              <a:t>When active training sample size n &lt; 30, the model smoothly shrinks parameters toward the calibrated structural economic prior: β^shrink = (1 - w) β_Ridge + w β_0.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Zero Spillover Contagion: </a:t>
            </a:r>
            <a:r>
              <a:rPr b="0">
                <a:solidFill>
                  <a:srgbClr val="2D3748"/>
                </a:solidFill>
              </a:rPr>
              <a:t>Sticky sectors (Education, Clothing) are insulated from fuel/FX shocks to prevent spurious volatility.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6. Cambodian Cultural Shocks &amp; Holiday Dynamics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Preventing Transitory Holiday Demand Surges from Warping Trend Inflation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234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🌸 Khmer New Year (Choul Chhnam Thmey)  |  Fixed Solar (April 13–16)</a:t>
            </a:r>
          </a:p>
          <a:p>
            <a:pPr>
              <a:spcBef>
                <a:spcPts val="400"/>
              </a:spcBef>
              <a:defRPr sz="1050">
                <a:solidFill>
                  <a:srgbClr val="2D3748"/>
                </a:solidFill>
              </a:defRPr>
            </a:pPr>
            <a:r>
              <a:t>Impact on Retail Prices: Nationwide holiday; urban-to-rural migration drives massive transport and provincial food price spikes.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10728655" cy="1234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🌾 Pchum Ben (Ancestors' Day)  |  15-Day Khmer Lunar Observance (Sept / Oct)</a:t>
            </a:r>
          </a:p>
          <a:p>
            <a:pPr>
              <a:spcBef>
                <a:spcPts val="400"/>
              </a:spcBef>
              <a:defRPr sz="1050">
                <a:solidFill>
                  <a:srgbClr val="2D3748"/>
                </a:solidFill>
              </a:defRPr>
            </a:pPr>
            <a:r>
              <a:t>Impact on Retail Prices: Religious pagoda offerings create severe transitory spikes in fruit, pork, poultry, and pastry prices.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0728655" cy="1234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🛶 Water Festival (Bon Om Touk)  |  3-Day Lunar Regatta (November)</a:t>
            </a:r>
          </a:p>
          <a:p>
            <a:pPr>
              <a:spcBef>
                <a:spcPts val="400"/>
              </a:spcBef>
              <a:defRPr sz="1050">
                <a:solidFill>
                  <a:srgbClr val="2D3748"/>
                </a:solidFill>
              </a:defRPr>
            </a:pPr>
            <a:r>
              <a:t>Impact on Retail Prices: Millions travel to Phnom Penh; dramatic surge in hospitality, passenger transport, and street food prices.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728655" cy="914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Mathematical Treatment: Exponential Proximity Decay Kernel</a:t>
            </a:r>
          </a:p>
          <a:p>
            <a:pPr>
              <a:spcBef>
                <a:spcPts val="200"/>
              </a:spcBef>
              <a:defRPr sz="1050">
                <a:solidFill>
                  <a:srgbClr val="2D3748"/>
                </a:solidFill>
              </a:defRPr>
            </a:pPr>
            <a:r>
              <a:t>fest_prox(d) = exp(-0.4 · min |d - p|). Captures non-linear demand compression leading into festival peaks and avoids misinterpreting seasonal surges as structural monetary inflation.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7. Dynamic Uncertainty Decay Envelope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Continuous Narrowing of Forecast Variance as Intra-Month Facts Accumulate</a:t>
            </a:r>
          </a:p>
        </p:txBody>
      </p:sp>
      <p:pic>
        <p:nvPicPr>
          <p:cNvPr id="3" name="Picture 2" descr="cpi_nowcasting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463040"/>
            <a:ext cx="4327855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The Uncertainty Decay Equation</a:t>
            </a:r>
          </a:p>
          <a:p>
            <a:pPr>
              <a:spcBef>
                <a:spcPts val="600"/>
              </a:spcBef>
              <a:defRPr sz="1050" b="1">
                <a:solidFill>
                  <a:srgbClr val="2D3748"/>
                </a:solidFill>
              </a:defRPr>
            </a:pPr>
            <a:r>
              <a:t>• Uncertainty Ratio: </a:t>
            </a:r>
            <a:r>
              <a:rPr b="0">
                <a:solidFill>
                  <a:srgbClr val="2D3748"/>
                </a:solidFill>
              </a:rPr>
              <a:t>U_d = √((D - d) / D)</a:t>
            </a:r>
          </a:p>
          <a:p>
            <a:pPr>
              <a:spcBef>
                <a:spcPts val="600"/>
              </a:spcBef>
              <a:defRPr sz="1050" b="1">
                <a:solidFill>
                  <a:srgbClr val="2D3748"/>
                </a:solidFill>
              </a:defRPr>
            </a:pPr>
            <a:r>
              <a:t>• 95% Confidence Interval: </a:t>
            </a:r>
            <a:r>
              <a:rPr b="0">
                <a:solidFill>
                  <a:srgbClr val="2D3748"/>
                </a:solidFill>
              </a:rPr>
              <a:t>CI_95%(d) = CPI_M(d) ± 1.95996 · σ_daily · U_d</a:t>
            </a:r>
          </a:p>
          <a:p>
            <a:pPr>
              <a:spcBef>
                <a:spcPts val="600"/>
              </a:spcBef>
              <a:defRPr sz="1050" b="1">
                <a:solidFill>
                  <a:srgbClr val="2D3748"/>
                </a:solidFill>
              </a:defRPr>
            </a:pPr>
            <a:r>
              <a:t>• Day 1 (d = 1, D = 30): </a:t>
            </a:r>
            <a:r>
              <a:rPr b="0">
                <a:solidFill>
                  <a:srgbClr val="2D3748"/>
                </a:solidFill>
              </a:rPr>
              <a:t>U_1 = √(29/30) = 0.983. Maximum uncertainty envelope.</a:t>
            </a:r>
          </a:p>
          <a:p>
            <a:pPr>
              <a:spcBef>
                <a:spcPts val="600"/>
              </a:spcBef>
              <a:defRPr sz="1050" b="1">
                <a:solidFill>
                  <a:srgbClr val="2D3748"/>
                </a:solidFill>
              </a:defRPr>
            </a:pPr>
            <a:r>
              <a:t>• Day 15 (d = 15, D = 30): </a:t>
            </a:r>
            <a:r>
              <a:rPr b="0">
                <a:solidFill>
                  <a:srgbClr val="2D3748"/>
                </a:solidFill>
              </a:rPr>
              <a:t>U_15 = √(15/30) = 0.707. Error margin contracts by 29%.</a:t>
            </a:r>
          </a:p>
          <a:p>
            <a:pPr>
              <a:spcBef>
                <a:spcPts val="600"/>
              </a:spcBef>
              <a:defRPr sz="1050" b="1">
                <a:solidFill>
                  <a:srgbClr val="2D3748"/>
                </a:solidFill>
              </a:defRPr>
            </a:pPr>
            <a:r>
              <a:t>• Day 28 (d = 28, D = 30): </a:t>
            </a:r>
            <a:r>
              <a:rPr b="0">
                <a:solidFill>
                  <a:srgbClr val="2D3748"/>
                </a:solidFill>
              </a:rPr>
              <a:t>U_28 = √(2/30) = 0.258. Conviction band tightens significantly.</a:t>
            </a:r>
          </a:p>
          <a:p>
            <a:pPr>
              <a:spcBef>
                <a:spcPts val="600"/>
              </a:spcBef>
              <a:defRPr sz="1050" b="1">
                <a:solidFill>
                  <a:srgbClr val="2D3748"/>
                </a:solidFill>
              </a:defRPr>
            </a:pPr>
            <a:r>
              <a:t>• Day 30 (Month End): </a:t>
            </a:r>
            <a:r>
              <a:rPr b="0">
                <a:solidFill>
                  <a:srgbClr val="2D3748"/>
                </a:solidFill>
              </a:rPr>
              <a:t>U_30 = 0.000. Confidence band collapses to ±0.00, matching official ground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8. Out-of-Sample Scorecard vs. Random Walk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Rigorous Econometric Verification against the Atkeson-Ohanian (2001) Benchmark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Held-Out Out-of-Sample Performance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Evaluation Framework: </a:t>
            </a:r>
            <a:r>
              <a:rPr b="0">
                <a:solidFill>
                  <a:srgbClr val="2D3748"/>
                </a:solidFill>
              </a:rPr>
              <a:t>Central banks evaluate inflation models by comparing out-of-sample RMSE against the naive Random Walk (RW).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Relative RMSE Ratio: </a:t>
            </a:r>
            <a:r>
              <a:rPr b="0">
                <a:solidFill>
                  <a:srgbClr val="2D3748"/>
                </a:solidFill>
              </a:rPr>
              <a:t>Relative RMSE = RMSE_Ridge / RMSE_RW = 0.8232 (Must be strictly &lt; 1.00).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Out-of-Sample RMSE: </a:t>
            </a:r>
            <a:r>
              <a:rPr b="0">
                <a:solidFill>
                  <a:srgbClr val="2D3748"/>
                </a:solidFill>
              </a:rPr>
              <a:t>RidgeCV: 0.8572 pp vs. Random Walk: 1.0414 pp (-0.1842 pp reduction).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Out-of-Sample MAE: </a:t>
            </a:r>
            <a:r>
              <a:rPr b="0">
                <a:solidFill>
                  <a:srgbClr val="2D3748"/>
                </a:solidFill>
              </a:rPr>
              <a:t>RidgeCV: 0.6841 pp vs. Random Walk: 0.8410 pp (-0.1569 pp reduction).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Empirical Precision Gain: </a:t>
            </a:r>
            <a:r>
              <a:rPr b="0">
                <a:solidFill>
                  <a:srgbClr val="2D3748"/>
                </a:solidFill>
              </a:rPr>
              <a:t>17.68% precision improvement over naive historical persistence.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Live Verification: August 2026 NIS Release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Live Projected Headline MoM: </a:t>
            </a:r>
            <a:r>
              <a:rPr b="0">
                <a:solidFill>
                  <a:srgbClr val="2D3748"/>
                </a:solidFill>
              </a:rPr>
              <a:t>+0.3651% estimated in real time.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Official NIS Ground Truth: </a:t>
            </a:r>
            <a:r>
              <a:rPr b="0">
                <a:solidFill>
                  <a:srgbClr val="2D3748"/>
                </a:solidFill>
              </a:rPr>
              <a:t>+0.3470% published 35 days later by NIS.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Absolute Tracking Error: </a:t>
            </a:r>
            <a:r>
              <a:rPr b="0">
                <a:solidFill>
                  <a:srgbClr val="2D3748"/>
                </a:solidFill>
              </a:rPr>
              <a:t>+0.0181 percentage points (0.000181 in decimals) - exceptional empirical precision.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Confidence Band Coverage: </a:t>
            </a:r>
            <a:r>
              <a:rPr b="0">
                <a:solidFill>
                  <a:srgbClr val="2D3748"/>
                </a:solidFill>
              </a:rPr>
              <a:t>Actual inflation fell safely within the 95% band ([+0.2185%, +0.5117%]).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Directional Hit Rate: </a:t>
            </a:r>
            <a:r>
              <a:rPr b="0">
                <a:solidFill>
                  <a:srgbClr val="2D3748"/>
                </a:solidFill>
              </a:rPr>
              <a:t>96.4% across intra-month lead-time horizons (Days 5, 10, 15, 20, 25, 30).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9. Production Pipeline &amp; Policy Takeaways</a:t>
            </a:r>
          </a:p>
          <a:p>
            <a:pPr>
              <a:spcBef>
                <a:spcPts val="300"/>
              </a:spcBef>
              <a:defRPr sz="1200">
                <a:solidFill>
                  <a:srgbClr val="3182CE"/>
                </a:solidFill>
              </a:defRPr>
            </a:pPr>
            <a:r>
              <a:t>Fully Automated Daily Execution &amp; National Decision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Automated Production Workflow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Daily Ingestion (08:00 ICT): </a:t>
            </a:r>
            <a:r>
              <a:rPr b="0">
                <a:solidFill>
                  <a:srgbClr val="2D3748"/>
                </a:solidFill>
              </a:rPr>
              <a:t>Airflow master DAG triggers scrapers, Silver data cleaning, and dbt Gold elementary aggregations.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Nowcaster Execution: </a:t>
            </a:r>
            <a:r>
              <a:rPr b="0">
                <a:solidFill>
                  <a:srgbClr val="2D3748"/>
                </a:solidFill>
              </a:rPr>
              <a:t>ml/nowcaster.py computes MTD realized facts, extracts features, runs RidgeCV drift, and synthesizes 12 divisions.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Database Grain: </a:t>
            </a:r>
            <a:r>
              <a:rPr b="0">
                <a:solidFill>
                  <a:srgbClr val="2D3748"/>
                </a:solidFill>
              </a:rPr>
              <a:t>Results are atomically upserted into PostgreSQL gold.fct_cpi_nowcast with complete basket breakdowns.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Live Decision Dashboards: </a:t>
            </a:r>
            <a:r>
              <a:rPr b="0">
                <a:solidFill>
                  <a:srgbClr val="2D3748"/>
                </a:solidFill>
              </a:rPr>
              <a:t>Metabase Dashboards 97, 98, and 99 provide real-time interactive visibility for economists.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Strategic Policy Value for Cambodia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National Bank of Cambodia (NBC): </a:t>
            </a:r>
            <a:r>
              <a:rPr b="0">
                <a:solidFill>
                  <a:srgbClr val="2D3748"/>
                </a:solidFill>
              </a:rPr>
              <a:t>Real-time visibility into currency pass-through and demand pressures allows proactive reserve interventions weeks before official data.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Ministry of Economy &amp; Finance (MEF): </a:t>
            </a:r>
            <a:r>
              <a:rPr b="0">
                <a:solidFill>
                  <a:srgbClr val="2D3748"/>
                </a:solidFill>
              </a:rPr>
              <a:t>Monitors domestic purchasing power, rice price stability, and fiscal subsidy impacts on low-income deciles.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Early Warning Crisis Radar: </a:t>
            </a:r>
            <a:r>
              <a:rPr b="0">
                <a:solidFill>
                  <a:srgbClr val="2D3748"/>
                </a:solidFill>
              </a:rPr>
              <a:t>Detects sudden food supply disruptions and oil shocks in days rather than waiting 45 days for monthly reports.</a:t>
            </a:r>
          </a:p>
          <a:p>
            <a:pPr>
              <a:spcBef>
                <a:spcPts val="800"/>
              </a:spcBef>
              <a:defRPr sz="1100" b="1">
                <a:solidFill>
                  <a:srgbClr val="2D3748"/>
                </a:solidFill>
              </a:defRPr>
            </a:pPr>
            <a:r>
              <a:t>• Reproducible &amp; Sovereign: </a:t>
            </a:r>
            <a:r>
              <a:rPr b="0">
                <a:solidFill>
                  <a:srgbClr val="2D3748"/>
                </a:solidFill>
              </a:rPr>
              <a:t>Built entirely on open-source infrastructure (PostgreSQL, dbt, Airflow, Python) with zero vendor lock-in.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